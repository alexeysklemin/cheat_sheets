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2" r:id="rId3"/>
    <p:sldId id="273" r:id="rId4"/>
    <p:sldId id="274" r:id="rId5"/>
    <p:sldId id="275" r:id="rId6"/>
    <p:sldId id="278" r:id="rId7"/>
    <p:sldId id="279" r:id="rId8"/>
    <p:sldId id="280" r:id="rId9"/>
    <p:sldId id="281" r:id="rId10"/>
    <p:sldId id="282" r:id="rId11"/>
    <p:sldId id="283" r:id="rId12"/>
    <p:sldId id="284" r:id="rId13"/>
    <p:sldId id="285" r:id="rId14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80" d="100"/>
          <a:sy n="80" d="100"/>
        </p:scale>
        <p:origin x="-1445" y="-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5" Type="http://schemas.openxmlformats.org/officeDocument/2006/relationships/image" Target="../media/image2.emf"/><Relationship Id="rId4" Type="http://schemas.openxmlformats.org/officeDocument/2006/relationships/package" Target="../embeddings/_____Microsoft_Excel11.xlsx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Postgresql</a:t>
            </a:r>
            <a:r>
              <a:rPr lang="en-US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управление состоянием СУБД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Для студентов ССА 3 курса</a:t>
            </a:r>
          </a:p>
        </p:txBody>
      </p:sp>
    </p:spTree>
    <p:extLst>
      <p:ext uri="{BB962C8B-B14F-4D97-AF65-F5344CB8AC3E}">
        <p14:creationId xmlns:p14="http://schemas.microsoft.com/office/powerpoint/2010/main" val="5327728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Параметры работы СУБД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dirty="0" smtClean="0"/>
              <a:t>В работе СУБД </a:t>
            </a:r>
            <a:r>
              <a:rPr lang="en-US" dirty="0" err="1" smtClean="0"/>
              <a:t>PostgreSQL</a:t>
            </a:r>
            <a:r>
              <a:rPr lang="ru-RU" dirty="0" smtClean="0"/>
              <a:t> имеется большое количество параметров работы СУБД, но по группам они отличаются на три:</a:t>
            </a:r>
          </a:p>
          <a:p>
            <a:r>
              <a:rPr lang="ru-RU" dirty="0" smtClean="0"/>
              <a:t>Уровень </a:t>
            </a:r>
            <a:r>
              <a:rPr lang="en-US" dirty="0" smtClean="0"/>
              <a:t>SIGHUP</a:t>
            </a:r>
            <a:endParaRPr lang="ru-RU" dirty="0" smtClean="0"/>
          </a:p>
          <a:p>
            <a:r>
              <a:rPr lang="ru-RU" dirty="0" smtClean="0"/>
              <a:t>Уровень </a:t>
            </a:r>
            <a:r>
              <a:rPr lang="en-US" dirty="0" smtClean="0"/>
              <a:t>User/Backend</a:t>
            </a:r>
            <a:endParaRPr lang="ru-RU" dirty="0" smtClean="0"/>
          </a:p>
          <a:p>
            <a:r>
              <a:rPr lang="ru-RU" dirty="0" smtClean="0"/>
              <a:t>Уровень </a:t>
            </a:r>
            <a:r>
              <a:rPr lang="en-US" dirty="0" smtClean="0"/>
              <a:t>Postmaster Restart</a:t>
            </a:r>
            <a:endParaRPr lang="ru-RU" dirty="0" smtClean="0"/>
          </a:p>
          <a:p>
            <a:pPr marL="0" indent="0">
              <a:buNone/>
            </a:pPr>
            <a:r>
              <a:rPr lang="ru-RU" dirty="0" smtClean="0"/>
              <a:t>Отличаются они единственным существенным свойством: временем применения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985373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Файлы настроек</a:t>
            </a:r>
            <a:endParaRPr lang="ru-RU" dirty="0"/>
          </a:p>
        </p:txBody>
      </p:sp>
      <p:pic>
        <p:nvPicPr>
          <p:cNvPr id="6" name="Объект 5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552" y="1268760"/>
            <a:ext cx="8215072" cy="1371719"/>
          </a:xfrm>
        </p:spPr>
      </p:pic>
      <p:sp>
        <p:nvSpPr>
          <p:cNvPr id="8" name="TextBox 7"/>
          <p:cNvSpPr txBox="1"/>
          <p:nvPr/>
        </p:nvSpPr>
        <p:spPr>
          <a:xfrm>
            <a:off x="395536" y="2852936"/>
            <a:ext cx="864096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 smtClean="0"/>
              <a:t>И хранятся все эти настройки в двух основных файлах настроек: </a:t>
            </a:r>
            <a:r>
              <a:rPr lang="en-US" sz="2800" i="1" dirty="0" err="1" smtClean="0"/>
              <a:t>postgresql.conf</a:t>
            </a:r>
            <a:r>
              <a:rPr lang="en-US" sz="2800" dirty="0" smtClean="0"/>
              <a:t> </a:t>
            </a:r>
            <a:r>
              <a:rPr lang="ru-RU" sz="2800" dirty="0" smtClean="0"/>
              <a:t>и</a:t>
            </a:r>
            <a:r>
              <a:rPr lang="en-US" sz="2800" dirty="0" smtClean="0"/>
              <a:t> </a:t>
            </a:r>
            <a:r>
              <a:rPr lang="en-US" sz="2800" i="1" dirty="0" err="1" smtClean="0"/>
              <a:t>postgresql.auto.conf</a:t>
            </a:r>
            <a:endParaRPr lang="ru-RU" sz="2800" i="1" dirty="0"/>
          </a:p>
        </p:txBody>
      </p:sp>
      <p:sp>
        <p:nvSpPr>
          <p:cNvPr id="9" name="TextBox 8"/>
          <p:cNvSpPr txBox="1"/>
          <p:nvPr/>
        </p:nvSpPr>
        <p:spPr>
          <a:xfrm>
            <a:off x="251520" y="3856181"/>
            <a:ext cx="856895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/>
              <a:t>Про время действия – первая группа настроек действует </a:t>
            </a:r>
            <a:r>
              <a:rPr lang="ru-RU" sz="2000" b="1" dirty="0" smtClean="0"/>
              <a:t>моментально</a:t>
            </a:r>
            <a:r>
              <a:rPr lang="ru-RU" sz="2000" dirty="0" smtClean="0"/>
              <a:t>, сразу как только мы их ввели серверу, вторая группа, начинает действовать только после </a:t>
            </a:r>
            <a:r>
              <a:rPr lang="ru-RU" sz="2000" b="1" dirty="0" smtClean="0"/>
              <a:t>следующего входа этого пользователя </a:t>
            </a:r>
            <a:r>
              <a:rPr lang="ru-RU" sz="2000" dirty="0" smtClean="0"/>
              <a:t>в консоль разработчика, третья же последняя группа действует </a:t>
            </a:r>
            <a:r>
              <a:rPr lang="ru-RU" sz="2000" b="1" i="1" dirty="0" smtClean="0"/>
              <a:t>ТОЛЬКО</a:t>
            </a:r>
            <a:r>
              <a:rPr lang="ru-RU" sz="2000" dirty="0" smtClean="0"/>
              <a:t> после </a:t>
            </a:r>
            <a:r>
              <a:rPr lang="ru-RU" sz="2000" b="1" dirty="0" smtClean="0"/>
              <a:t>перезагрузки</a:t>
            </a:r>
            <a:r>
              <a:rPr lang="ru-RU" sz="2000" dirty="0" smtClean="0"/>
              <a:t> сервера в целом. Так что если у вас нет возможности </a:t>
            </a:r>
            <a:r>
              <a:rPr lang="ru-RU" sz="2000" i="1" dirty="0" smtClean="0"/>
              <a:t>перезагрузить сервер сегодня </a:t>
            </a:r>
            <a:r>
              <a:rPr lang="ru-RU" sz="2000" dirty="0" smtClean="0"/>
              <a:t>то новые установки вы </a:t>
            </a:r>
            <a:r>
              <a:rPr lang="ru-RU" sz="2000" i="1" dirty="0" smtClean="0"/>
              <a:t>сегодня</a:t>
            </a:r>
            <a:r>
              <a:rPr lang="ru-RU" sz="2000" dirty="0" smtClean="0"/>
              <a:t> и не увидите.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5192421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Способы редактирования конфигурационных файлов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aphicFrame>
        <p:nvGraphicFramePr>
          <p:cNvPr id="10" name="Объект 9"/>
          <p:cNvGraphicFramePr>
            <a:graphicFrameLocks noGrp="1" noChangeAspect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19739032"/>
              </p:ext>
            </p:extLst>
          </p:nvPr>
        </p:nvGraphicFramePr>
        <p:xfrm>
          <a:off x="1027113" y="1600200"/>
          <a:ext cx="7089775" cy="45259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9" name="Лист" r:id="rId4" imgW="11330905" imgH="7231388" progId="Excel.Sheet.12">
                  <p:embed/>
                </p:oleObj>
              </mc:Choice>
              <mc:Fallback>
                <p:oleObj name="Лист" r:id="rId4" imgW="11330905" imgH="7231388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027113" y="1600200"/>
                        <a:ext cx="7089775" cy="452596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3528" y="4653136"/>
            <a:ext cx="84969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smtClean="0"/>
              <a:t>Обратите внимание, что </a:t>
            </a:r>
            <a:r>
              <a:rPr lang="en-US" sz="2400" dirty="0" err="1" smtClean="0"/>
              <a:t>postgresql.auto.conf</a:t>
            </a:r>
            <a:r>
              <a:rPr lang="en-US" sz="2400" dirty="0" smtClean="0"/>
              <a:t> </a:t>
            </a:r>
            <a:r>
              <a:rPr lang="ru-RU" sz="2400" dirty="0" smtClean="0"/>
              <a:t>не редактируется так сказать руками. А только командами </a:t>
            </a:r>
            <a:r>
              <a:rPr lang="en-US" sz="2400" dirty="0" smtClean="0"/>
              <a:t>ALTER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33698679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Применение инструкций уровня </a:t>
            </a:r>
            <a:r>
              <a:rPr lang="ru-RU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SIGHUP</a:t>
            </a:r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6" name="Объект 5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ru-RU" dirty="0"/>
              <a:t>Представьте: к вам прилетают данные из другой системы (например, 1С или SAP). Нужно за ночь залить 50 ГБ данных, построить по ним индексы и сделать так, чтобы утром база летала.</a:t>
            </a:r>
          </a:p>
          <a:p>
            <a:pPr marL="0" indent="0">
              <a:buNone/>
            </a:pPr>
            <a:r>
              <a:rPr lang="ru-RU" dirty="0"/>
              <a:t>Вот как выглядит этот единый сценарий шаг за шагом: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 smtClean="0"/>
              <a:t>Подготовка </a:t>
            </a:r>
            <a:r>
              <a:rPr lang="ru-RU" dirty="0"/>
              <a:t>к загрузке (</a:t>
            </a:r>
            <a:r>
              <a:rPr lang="ru-RU" dirty="0" smtClean="0"/>
              <a:t>Уровень </a:t>
            </a:r>
            <a:r>
              <a:rPr lang="ru-RU" dirty="0"/>
              <a:t>SIGHUP)</a:t>
            </a:r>
          </a:p>
          <a:p>
            <a:pPr marL="0" indent="0">
              <a:buNone/>
            </a:pPr>
            <a:r>
              <a:rPr lang="ru-RU" dirty="0"/>
              <a:t>Проблема: Стандартных 4 МБ памяти на сортировку (</a:t>
            </a:r>
            <a:r>
              <a:rPr lang="ru-RU" dirty="0" err="1"/>
              <a:t>work_mem</a:t>
            </a:r>
            <a:r>
              <a:rPr lang="ru-RU" dirty="0"/>
              <a:t>) мало. При загрузке CSV-файлов </a:t>
            </a:r>
            <a:r>
              <a:rPr lang="ru-RU" dirty="0" err="1"/>
              <a:t>PostgreSQL</a:t>
            </a:r>
            <a:r>
              <a:rPr lang="ru-RU" dirty="0"/>
              <a:t> будет постоянно писать временные файлы на диск, и загрузка займет 10 часов вместо 30 минут.</a:t>
            </a:r>
          </a:p>
          <a:p>
            <a:pPr marL="0" indent="0">
              <a:buNone/>
            </a:pPr>
            <a:r>
              <a:rPr lang="ru-RU" dirty="0"/>
              <a:t>Действие: Мы временно увеличиваем память для операций сортировки и хеширования.</a:t>
            </a:r>
          </a:p>
        </p:txBody>
      </p:sp>
    </p:spTree>
    <p:extLst>
      <p:ext uri="{BB962C8B-B14F-4D97-AF65-F5344CB8AC3E}">
        <p14:creationId xmlns:p14="http://schemas.microsoft.com/office/powerpoint/2010/main" val="9524774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Команда вывода </a:t>
            </a:r>
            <a:r>
              <a:rPr lang="ru-RU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SQL-запросов</a:t>
            </a:r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ru-RU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уровня SIGHUP 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ru-RU" sz="1900" dirty="0" smtClean="0"/>
              <a:t>Обратите внимание, что на слайде представлен не чистый </a:t>
            </a:r>
            <a:r>
              <a:rPr lang="en-US" sz="1900" b="1" dirty="0"/>
              <a:t>ALTER SYSTEM SET </a:t>
            </a:r>
            <a:r>
              <a:rPr lang="en-US" sz="1900" b="1" dirty="0" err="1"/>
              <a:t>work_mem</a:t>
            </a:r>
            <a:r>
              <a:rPr lang="en-US" sz="1900" b="1" dirty="0"/>
              <a:t> = '512MB</a:t>
            </a:r>
            <a:r>
              <a:rPr lang="en-US" sz="1900" b="1" dirty="0" smtClean="0"/>
              <a:t>';</a:t>
            </a:r>
            <a:r>
              <a:rPr lang="ru-RU" sz="1900" dirty="0" smtClean="0"/>
              <a:t>, а несколько на первый взгляд усложненный блок:</a:t>
            </a:r>
            <a:br>
              <a:rPr lang="ru-RU" sz="1900" dirty="0" smtClean="0"/>
            </a:br>
            <a:r>
              <a:rPr lang="en-US" sz="1900" b="1" dirty="0" smtClean="0"/>
              <a:t>BEGIN;</a:t>
            </a:r>
            <a:br>
              <a:rPr lang="en-US" sz="1900" b="1" dirty="0" smtClean="0"/>
            </a:br>
            <a:r>
              <a:rPr lang="en-US" sz="1900" b="1" dirty="0" smtClean="0"/>
              <a:t>SET LOCAL </a:t>
            </a:r>
            <a:r>
              <a:rPr lang="en-US" sz="1900" b="1" dirty="0" err="1"/>
              <a:t>work_mem</a:t>
            </a:r>
            <a:r>
              <a:rPr lang="en-US" sz="1900" b="1" dirty="0"/>
              <a:t> = </a:t>
            </a:r>
            <a:r>
              <a:rPr lang="en-US" sz="1900" b="1" dirty="0" smtClean="0"/>
              <a:t>‘128</a:t>
            </a:r>
            <a:r>
              <a:rPr lang="en-US" sz="1900" b="1" dirty="0"/>
              <a:t>MB</a:t>
            </a:r>
            <a:r>
              <a:rPr lang="en-US" sz="1900" b="1" dirty="0" smtClean="0"/>
              <a:t>';</a:t>
            </a:r>
            <a:br>
              <a:rPr lang="en-US" sz="1900" b="1" dirty="0" smtClean="0"/>
            </a:br>
            <a:r>
              <a:rPr lang="en-US" sz="1900" b="1" dirty="0" smtClean="0"/>
              <a:t>COMMIT;</a:t>
            </a:r>
            <a:br>
              <a:rPr lang="en-US" sz="1900" b="1" dirty="0" smtClean="0"/>
            </a:br>
            <a:r>
              <a:rPr lang="ru-RU" sz="1900" dirty="0" smtClean="0"/>
              <a:t>Дело в том, что мои аппаратные возможности не позволяют задавать настолько реальные конфигурации что мы обсуждали это первое, и второе, мне бы не хотелось сохранять введенные настройки поскольку  сервер у меня развернут на </a:t>
            </a:r>
            <a:r>
              <a:rPr lang="en-US" sz="1900" dirty="0" smtClean="0"/>
              <a:t>WSL. </a:t>
            </a:r>
            <a:r>
              <a:rPr lang="ru-RU" sz="1900" dirty="0" smtClean="0"/>
              <a:t>Кроме того обратите внимание на мои опечатки</a:t>
            </a:r>
            <a:br>
              <a:rPr lang="ru-RU" sz="1900" dirty="0" smtClean="0"/>
            </a:br>
            <a:r>
              <a:rPr lang="ru-RU" sz="1900" dirty="0" smtClean="0">
                <a:sym typeface="Wingdings" pitchFamily="2" charset="2"/>
              </a:rPr>
              <a:t></a:t>
            </a:r>
            <a:endParaRPr lang="ru-RU" sz="1900" dirty="0"/>
          </a:p>
        </p:txBody>
      </p:sp>
      <p:pic>
        <p:nvPicPr>
          <p:cNvPr id="3" name="Объект 2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552" y="1556792"/>
            <a:ext cx="3816423" cy="5186420"/>
          </a:xfrm>
        </p:spPr>
      </p:pic>
    </p:spTree>
    <p:extLst>
      <p:ext uri="{BB962C8B-B14F-4D97-AF65-F5344CB8AC3E}">
        <p14:creationId xmlns:p14="http://schemas.microsoft.com/office/powerpoint/2010/main" val="3013608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8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Команда вывода SQL-запросов уровня 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User/Backend</a:t>
            </a:r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04" y="3365179"/>
            <a:ext cx="4038600" cy="996005"/>
          </a:xfrm>
        </p:spPr>
      </p:pic>
      <p:sp>
        <p:nvSpPr>
          <p:cNvPr id="6" name="Объект 5"/>
          <p:cNvSpPr>
            <a:spLocks noGrp="1"/>
          </p:cNvSpPr>
          <p:nvPr>
            <p:ph sz="half" idx="2"/>
          </p:nvPr>
        </p:nvSpPr>
        <p:spPr>
          <a:xfrm>
            <a:off x="4211960" y="1600200"/>
            <a:ext cx="4752528" cy="45259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1600" i="1" dirty="0"/>
              <a:t>Проблема</a:t>
            </a:r>
            <a:r>
              <a:rPr lang="ru-RU" sz="1600" dirty="0"/>
              <a:t>: Данные загружены, но теперь нужно построить индексы для быстрого поиска. Операция CREATE INDEX очень прожорлива. Если мы оставим </a:t>
            </a:r>
            <a:r>
              <a:rPr lang="ru-RU" sz="1600" dirty="0" err="1"/>
              <a:t>work_mem</a:t>
            </a:r>
            <a:r>
              <a:rPr lang="ru-RU" sz="1600" dirty="0"/>
              <a:t> большим для всех, обычные пользователи могут уронить сервер утром. Но нам нужно много памяти только сейчас и только для админа.</a:t>
            </a:r>
          </a:p>
          <a:p>
            <a:pPr marL="0" indent="0">
              <a:buNone/>
            </a:pPr>
            <a:r>
              <a:rPr lang="ru-RU" sz="1600" i="1" dirty="0"/>
              <a:t>Действие</a:t>
            </a:r>
            <a:r>
              <a:rPr lang="ru-RU" sz="1600" dirty="0"/>
              <a:t>: Мы задаем специальный лимит памяти для обслуживания только для роли </a:t>
            </a:r>
            <a:r>
              <a:rPr lang="ru-RU" sz="1600" dirty="0" err="1"/>
              <a:t>postgres</a:t>
            </a:r>
            <a:r>
              <a:rPr lang="ru-RU" sz="1600" dirty="0"/>
              <a:t>.</a:t>
            </a:r>
          </a:p>
          <a:p>
            <a:pPr marL="0" indent="0">
              <a:buNone/>
            </a:pPr>
            <a:r>
              <a:rPr lang="ru-RU" sz="1600" dirty="0" smtClean="0"/>
              <a:t>-- </a:t>
            </a:r>
            <a:r>
              <a:rPr lang="ru-RU" sz="1600" dirty="0"/>
              <a:t>Это изменение подхватится при следующем входе или через SET</a:t>
            </a:r>
          </a:p>
          <a:p>
            <a:pPr marL="0" indent="0">
              <a:buNone/>
            </a:pPr>
            <a:r>
              <a:rPr lang="ru-RU" sz="1600" b="1" dirty="0"/>
              <a:t>ALTER ROLE </a:t>
            </a:r>
            <a:r>
              <a:rPr lang="ru-RU" sz="1600" b="1" dirty="0" err="1"/>
              <a:t>postgres</a:t>
            </a:r>
            <a:r>
              <a:rPr lang="ru-RU" sz="1600" b="1" dirty="0"/>
              <a:t> SET </a:t>
            </a:r>
            <a:r>
              <a:rPr lang="ru-RU" sz="1600" b="1" dirty="0" err="1"/>
              <a:t>maintenance_work_mem</a:t>
            </a:r>
            <a:r>
              <a:rPr lang="ru-RU" sz="1600" b="1" dirty="0"/>
              <a:t> = '4GB'; </a:t>
            </a:r>
          </a:p>
          <a:p>
            <a:pPr marL="0" indent="0">
              <a:buNone/>
            </a:pPr>
            <a:r>
              <a:rPr lang="ru-RU" sz="1600" i="1" dirty="0" smtClean="0"/>
              <a:t>Результат</a:t>
            </a:r>
            <a:r>
              <a:rPr lang="ru-RU" sz="1600" dirty="0"/>
              <a:t>: Админ строит индексы молниеносно, используя 4 ГБ RAM, пока остальные пользователи продолжают работать со своими скромными настройками. Безопасно и эффективно.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9512" y="5013176"/>
            <a:ext cx="38164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Еще раз обращаю внимание на </a:t>
            </a:r>
            <a:r>
              <a:rPr lang="ru-RU" dirty="0" smtClean="0"/>
              <a:t>свои </a:t>
            </a:r>
            <a:r>
              <a:rPr lang="ru-RU" dirty="0" smtClean="0"/>
              <a:t>технические ограничения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838549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Вступление в силу новых настроек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3" name="Объект 2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528" y="1556792"/>
            <a:ext cx="8424935" cy="5093159"/>
          </a:xfrm>
        </p:spPr>
      </p:pic>
    </p:spTree>
    <p:extLst>
      <p:ext uri="{BB962C8B-B14F-4D97-AF65-F5344CB8AC3E}">
        <p14:creationId xmlns:p14="http://schemas.microsoft.com/office/powerpoint/2010/main" val="17875679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Возвращение стандартных настроек</a:t>
            </a:r>
            <a:endParaRPr lang="ru-RU" dirty="0"/>
          </a:p>
        </p:txBody>
      </p:sp>
      <p:pic>
        <p:nvPicPr>
          <p:cNvPr id="6" name="Объект 5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528" y="1412775"/>
            <a:ext cx="6840760" cy="5231169"/>
          </a:xfrm>
        </p:spPr>
      </p:pic>
      <p:sp>
        <p:nvSpPr>
          <p:cNvPr id="7" name="TextBox 6"/>
          <p:cNvSpPr txBox="1"/>
          <p:nvPr/>
        </p:nvSpPr>
        <p:spPr>
          <a:xfrm>
            <a:off x="7308304" y="1484784"/>
            <a:ext cx="172819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Для возвращения старых настроек </a:t>
            </a:r>
            <a:r>
              <a:rPr lang="ru-RU" dirty="0" err="1" smtClean="0"/>
              <a:t>иы</a:t>
            </a:r>
            <a:r>
              <a:rPr lang="ru-RU" dirty="0" smtClean="0"/>
              <a:t> всегда используем команду </a:t>
            </a:r>
            <a:r>
              <a:rPr lang="en-US" b="1" i="1" dirty="0" smtClean="0"/>
              <a:t>RESET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en-US" b="1" dirty="0" smtClean="0"/>
              <a:t>ALTER ROLE </a:t>
            </a:r>
            <a:r>
              <a:rPr lang="en-US" b="1" dirty="0" err="1" smtClean="0"/>
              <a:t>postgres</a:t>
            </a:r>
            <a:r>
              <a:rPr lang="en-US" b="1" dirty="0" smtClean="0"/>
              <a:t> RESET </a:t>
            </a:r>
            <a:r>
              <a:rPr lang="en-US" b="1" dirty="0" err="1" smtClean="0"/>
              <a:t>maintenance_work_mem</a:t>
            </a:r>
            <a:r>
              <a:rPr lang="en-US" b="1" dirty="0" smtClean="0"/>
              <a:t>;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en-US" b="1" i="1" dirty="0" smtClean="0"/>
              <a:t>RESET</a:t>
            </a:r>
            <a:r>
              <a:rPr lang="en-US" dirty="0" smtClean="0"/>
              <a:t> </a:t>
            </a:r>
            <a:r>
              <a:rPr lang="ru-RU" dirty="0" smtClean="0"/>
              <a:t>всегда используется для возврата настроек.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902890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Команда вывода SQL-запросов уровня 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Postmaster Restart</a:t>
            </a:r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ru-RU" dirty="0"/>
              <a:t>Проблема: База выросла. Данных стало в 2 раза больше. Старого кэша в 128 МБ (</a:t>
            </a:r>
            <a:r>
              <a:rPr lang="ru-RU" dirty="0" err="1"/>
              <a:t>shared_buffers</a:t>
            </a:r>
            <a:r>
              <a:rPr lang="ru-RU" dirty="0"/>
              <a:t>) катастрофически не хватает. Утром пользователи начнут жаловаться на тормоза, если мы не выделим базе больше общей памяти.</a:t>
            </a:r>
          </a:p>
          <a:p>
            <a:pPr marL="0" indent="0">
              <a:buNone/>
            </a:pPr>
            <a:r>
              <a:rPr lang="ru-RU" dirty="0"/>
              <a:t>Действие: Мы меняем фундаментальный параметр — размер разделяемого буфера.</a:t>
            </a:r>
          </a:p>
          <a:p>
            <a:pPr marL="0" indent="0">
              <a:buNone/>
            </a:pPr>
            <a:r>
              <a:rPr lang="ru-RU" b="1" dirty="0" smtClean="0"/>
              <a:t>ALTER </a:t>
            </a:r>
            <a:r>
              <a:rPr lang="ru-RU" b="1" dirty="0"/>
              <a:t>SYSTEM SET </a:t>
            </a:r>
            <a:r>
              <a:rPr lang="ru-RU" b="1" dirty="0" err="1"/>
              <a:t>shared_buffers</a:t>
            </a:r>
            <a:r>
              <a:rPr lang="ru-RU" b="1" dirty="0"/>
              <a:t> = '8GB';</a:t>
            </a:r>
          </a:p>
          <a:p>
            <a:pPr marL="0" indent="0">
              <a:buNone/>
            </a:pPr>
            <a:r>
              <a:rPr lang="ru-RU" dirty="0" smtClean="0"/>
              <a:t>Результат</a:t>
            </a:r>
            <a:r>
              <a:rPr lang="ru-RU" dirty="0"/>
              <a:t>: Сервер перезапускается, выделяет 8 ГБ под общий кэш. Утром база «греет» данные в памяти, и все отчеты пользователей летают.</a:t>
            </a:r>
          </a:p>
        </p:txBody>
      </p:sp>
    </p:spTree>
    <p:extLst>
      <p:ext uri="{BB962C8B-B14F-4D97-AF65-F5344CB8AC3E}">
        <p14:creationId xmlns:p14="http://schemas.microsoft.com/office/powerpoint/2010/main" val="88236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Команда </a:t>
            </a:r>
            <a:r>
              <a:rPr lang="ru-RU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ALTER SYSTEM SET </a:t>
            </a:r>
            <a:r>
              <a:rPr lang="ru-RU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shared_buffers</a:t>
            </a:r>
            <a:r>
              <a:rPr lang="ru-RU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568" y="1559187"/>
            <a:ext cx="7702744" cy="5254189"/>
          </a:xfrm>
        </p:spPr>
      </p:pic>
    </p:spTree>
    <p:extLst>
      <p:ext uri="{BB962C8B-B14F-4D97-AF65-F5344CB8AC3E}">
        <p14:creationId xmlns:p14="http://schemas.microsoft.com/office/powerpoint/2010/main" val="16410952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44624"/>
            <a:ext cx="9036496" cy="1143000"/>
          </a:xfrm>
        </p:spPr>
        <p:txBody>
          <a:bodyPr>
            <a:normAutofit fontScale="90000"/>
          </a:bodyPr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Момент применения команды уровня 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Postmaster Restart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9712" y="1120557"/>
            <a:ext cx="5544616" cy="5766787"/>
          </a:xfrm>
        </p:spPr>
      </p:pic>
    </p:spTree>
    <p:extLst>
      <p:ext uri="{BB962C8B-B14F-4D97-AF65-F5344CB8AC3E}">
        <p14:creationId xmlns:p14="http://schemas.microsoft.com/office/powerpoint/2010/main" val="34117906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44624"/>
            <a:ext cx="9144000" cy="1143000"/>
          </a:xfrm>
        </p:spPr>
        <p:txBody>
          <a:bodyPr>
            <a:normAutofit fontScale="90000"/>
          </a:bodyPr>
          <a:lstStyle/>
          <a:p>
            <a:r>
              <a:rPr lang="ru-RU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Момент </a:t>
            </a:r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отмен</a:t>
            </a:r>
            <a:r>
              <a:rPr lang="ru-RU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ы</a:t>
            </a:r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команды </a:t>
            </a:r>
            <a:r>
              <a:rPr lang="ru-RU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уровня 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Postmaster Restart</a:t>
            </a:r>
            <a:endParaRPr lang="ru-RU" dirty="0"/>
          </a:p>
        </p:txBody>
      </p:sp>
      <p:pic>
        <p:nvPicPr>
          <p:cNvPr id="6" name="Объект 5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3688" y="1196752"/>
            <a:ext cx="5904314" cy="5537987"/>
          </a:xfrm>
        </p:spPr>
      </p:pic>
    </p:spTree>
    <p:extLst>
      <p:ext uri="{BB962C8B-B14F-4D97-AF65-F5344CB8AC3E}">
        <p14:creationId xmlns:p14="http://schemas.microsoft.com/office/powerpoint/2010/main" val="30168706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789</TotalTime>
  <Words>522</Words>
  <Application>Microsoft Office PowerPoint</Application>
  <PresentationFormat>Экран (4:3)</PresentationFormat>
  <Paragraphs>40</Paragraphs>
  <Slides>13</Slides>
  <Notes>0</Notes>
  <HiddenSlides>0</HiddenSlides>
  <MMClips>0</MMClips>
  <ScaleCrop>false</ScaleCrop>
  <HeadingPairs>
    <vt:vector size="6" baseType="variant"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5" baseType="lpstr">
      <vt:lpstr>Тема Office</vt:lpstr>
      <vt:lpstr>Лист</vt:lpstr>
      <vt:lpstr>Postgresql управление состоянием СУБД</vt:lpstr>
      <vt:lpstr>Параметры работы СУБД</vt:lpstr>
      <vt:lpstr>Файлы настроек</vt:lpstr>
      <vt:lpstr>Способы редактирования конфигурационных файлов</vt:lpstr>
      <vt:lpstr>Применение инструкций уровня SIGHUP </vt:lpstr>
      <vt:lpstr>Команда вывода SQL-запросов уровня SIGHUP </vt:lpstr>
      <vt:lpstr>Команда вывода SQL-запросов уровня User/Backend </vt:lpstr>
      <vt:lpstr>Вступление в силу новых настроек</vt:lpstr>
      <vt:lpstr>Возвращение стандартных настроек</vt:lpstr>
      <vt:lpstr>Команда вывода SQL-запросов уровня Postmaster Restart </vt:lpstr>
      <vt:lpstr>Команда ALTER SYSTEM SET shared_buffers </vt:lpstr>
      <vt:lpstr>Момент применения команды уровня Postmaster Restart</vt:lpstr>
      <vt:lpstr>Момент отмены команды уровня Postmaster Restart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Настройка двух сетевых соединений на одном сервере</dc:title>
  <dc:creator>нет2 каби</dc:creator>
  <cp:lastModifiedBy>нет2 каби</cp:lastModifiedBy>
  <cp:revision>38</cp:revision>
  <dcterms:created xsi:type="dcterms:W3CDTF">2024-02-23T18:22:01Z</dcterms:created>
  <dcterms:modified xsi:type="dcterms:W3CDTF">2026-10-17T19:02:49Z</dcterms:modified>
</cp:coreProperties>
</file>