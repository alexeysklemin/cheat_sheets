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ru-RU" dirty="0" smtClean="0"/>
              <a:t>управление состоянием СУБД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Параметры работы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В работе СУБД </a:t>
            </a:r>
            <a:r>
              <a:rPr lang="en-US" dirty="0" err="1" smtClean="0"/>
              <a:t>PostgreSQL</a:t>
            </a:r>
            <a:r>
              <a:rPr lang="ru-RU" dirty="0" smtClean="0"/>
              <a:t> имеется большое количество параметров работы СУБД, но по группам они отличаются на три:</a:t>
            </a:r>
          </a:p>
          <a:p>
            <a:r>
              <a:rPr lang="ru-RU" dirty="0" smtClean="0"/>
              <a:t>Уровень </a:t>
            </a:r>
            <a:r>
              <a:rPr lang="en-US" dirty="0" smtClean="0"/>
              <a:t>SIGHUP</a:t>
            </a:r>
            <a:endParaRPr lang="ru-RU" dirty="0" smtClean="0"/>
          </a:p>
          <a:p>
            <a:r>
              <a:rPr lang="ru-RU" dirty="0" smtClean="0"/>
              <a:t>Уровень </a:t>
            </a:r>
            <a:r>
              <a:rPr lang="en-US" dirty="0" smtClean="0"/>
              <a:t>User/Backend</a:t>
            </a:r>
            <a:endParaRPr lang="ru-RU" dirty="0" smtClean="0"/>
          </a:p>
          <a:p>
            <a:r>
              <a:rPr lang="ru-RU" dirty="0" smtClean="0"/>
              <a:t>Уровень </a:t>
            </a:r>
            <a:r>
              <a:rPr lang="en-US" dirty="0" smtClean="0"/>
              <a:t>Postmaster Restart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Отличаются они единственным существенным свойством: временем применения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53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Файлы настроек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68760"/>
            <a:ext cx="8215072" cy="1371719"/>
          </a:xfrm>
        </p:spPr>
      </p:pic>
      <p:sp>
        <p:nvSpPr>
          <p:cNvPr id="8" name="TextBox 7"/>
          <p:cNvSpPr txBox="1"/>
          <p:nvPr/>
        </p:nvSpPr>
        <p:spPr>
          <a:xfrm>
            <a:off x="395536" y="2852936"/>
            <a:ext cx="864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И хранятся все эти настройки в двух основных файлах настроек: </a:t>
            </a:r>
            <a:r>
              <a:rPr lang="en-US" sz="2800" i="1" dirty="0" err="1" smtClean="0"/>
              <a:t>postgresql.conf</a:t>
            </a:r>
            <a:r>
              <a:rPr lang="en-US" sz="2800" dirty="0" smtClean="0"/>
              <a:t> </a:t>
            </a:r>
            <a:r>
              <a:rPr lang="ru-RU" sz="2800" dirty="0" smtClean="0"/>
              <a:t>и</a:t>
            </a:r>
            <a:r>
              <a:rPr lang="en-US" sz="2800" dirty="0" smtClean="0"/>
              <a:t> </a:t>
            </a:r>
            <a:r>
              <a:rPr lang="en-US" sz="2800" i="1" dirty="0" err="1" smtClean="0"/>
              <a:t>postgresql.auto.conf</a:t>
            </a:r>
            <a:endParaRPr lang="ru-RU" sz="28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251520" y="3856181"/>
            <a:ext cx="8568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Про время действия – первая группа настроек действует </a:t>
            </a:r>
            <a:r>
              <a:rPr lang="ru-RU" sz="2000" b="1" dirty="0" smtClean="0"/>
              <a:t>моментально</a:t>
            </a:r>
            <a:r>
              <a:rPr lang="ru-RU" sz="2000" dirty="0" smtClean="0"/>
              <a:t>, сразу как только мы их ввели серверу, вторая группа, начинает действовать только после </a:t>
            </a:r>
            <a:r>
              <a:rPr lang="ru-RU" sz="2000" b="1" dirty="0" smtClean="0"/>
              <a:t>следующего входа этого пользователя </a:t>
            </a:r>
            <a:r>
              <a:rPr lang="ru-RU" sz="2000" dirty="0" smtClean="0"/>
              <a:t>в консоль разработчика, третья же последняя группа действует </a:t>
            </a:r>
            <a:r>
              <a:rPr lang="ru-RU" sz="2000" b="1" i="1" dirty="0" smtClean="0"/>
              <a:t>ТОЛЬКО</a:t>
            </a:r>
            <a:r>
              <a:rPr lang="ru-RU" sz="2000" dirty="0" smtClean="0"/>
              <a:t> после </a:t>
            </a:r>
            <a:r>
              <a:rPr lang="ru-RU" sz="2000" b="1" dirty="0" smtClean="0"/>
              <a:t>перезагрузки</a:t>
            </a:r>
            <a:r>
              <a:rPr lang="ru-RU" sz="2000" dirty="0" smtClean="0"/>
              <a:t> сервера в целом. Так что если у вас нет возможности </a:t>
            </a:r>
            <a:r>
              <a:rPr lang="ru-RU" sz="2000" i="1" dirty="0" smtClean="0"/>
              <a:t>перезагрузить сервер сегодня </a:t>
            </a:r>
            <a:r>
              <a:rPr lang="ru-RU" sz="2000" dirty="0" smtClean="0"/>
              <a:t>то новые установки вы </a:t>
            </a:r>
            <a:r>
              <a:rPr lang="ru-RU" sz="2000" i="1" dirty="0" smtClean="0"/>
              <a:t>сегодня</a:t>
            </a:r>
            <a:r>
              <a:rPr lang="ru-RU" sz="2000" dirty="0" smtClean="0"/>
              <a:t> и не увидите.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1924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Способы редактирования конфигурационных файлов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Объект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739032"/>
              </p:ext>
            </p:extLst>
          </p:nvPr>
        </p:nvGraphicFramePr>
        <p:xfrm>
          <a:off x="1027113" y="1600200"/>
          <a:ext cx="7089775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Лист" r:id="rId3" imgW="11330905" imgH="7231388" progId="Excel.Sheet.12">
                  <p:embed/>
                </p:oleObj>
              </mc:Choice>
              <mc:Fallback>
                <p:oleObj name="Лист" r:id="rId3" imgW="11330905" imgH="723138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113" y="1600200"/>
                        <a:ext cx="7089775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3528" y="4653136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Обратите внимание, что </a:t>
            </a:r>
            <a:r>
              <a:rPr lang="en-US" sz="2400" dirty="0" err="1" smtClean="0"/>
              <a:t>postgresql.auto.conf</a:t>
            </a:r>
            <a:r>
              <a:rPr lang="en-US" sz="2400" dirty="0" smtClean="0"/>
              <a:t> </a:t>
            </a:r>
            <a:r>
              <a:rPr lang="ru-RU" sz="2400" dirty="0" smtClean="0"/>
              <a:t>не редактируется так сказать руками. А только командами </a:t>
            </a:r>
            <a:r>
              <a:rPr lang="en-US" sz="2400" dirty="0" smtClean="0"/>
              <a:t>ALTER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6986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Применение инструкций уровня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SIGHUP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Представьте: к вам прилетают данные из другой системы (например, 1С или SAP). Нужно за ночь залить 50 ГБ данных, построить по ним индексы и сделать так, чтобы утром база летала.</a:t>
            </a:r>
          </a:p>
          <a:p>
            <a:pPr marL="0" indent="0">
              <a:buNone/>
            </a:pPr>
            <a:r>
              <a:rPr lang="ru-RU" dirty="0"/>
              <a:t>Вот как выглядит этот единый сценарий шаг за шагом: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Подготовка </a:t>
            </a:r>
            <a:r>
              <a:rPr lang="ru-RU" dirty="0"/>
              <a:t>к загрузке (</a:t>
            </a:r>
            <a:r>
              <a:rPr lang="ru-RU" dirty="0" smtClean="0"/>
              <a:t>Уровень </a:t>
            </a:r>
            <a:r>
              <a:rPr lang="ru-RU" dirty="0"/>
              <a:t>SIGHUP)</a:t>
            </a:r>
          </a:p>
          <a:p>
            <a:pPr marL="0" indent="0">
              <a:buNone/>
            </a:pPr>
            <a:r>
              <a:rPr lang="ru-RU" dirty="0"/>
              <a:t>Проблема: Стандартных 4 МБ памяти на сортировку (</a:t>
            </a:r>
            <a:r>
              <a:rPr lang="ru-RU" dirty="0" err="1"/>
              <a:t>work_mem</a:t>
            </a:r>
            <a:r>
              <a:rPr lang="ru-RU" dirty="0"/>
              <a:t>) мало. При загрузке CSV-файлов </a:t>
            </a:r>
            <a:r>
              <a:rPr lang="ru-RU" dirty="0" err="1"/>
              <a:t>PostgreSQL</a:t>
            </a:r>
            <a:r>
              <a:rPr lang="ru-RU" dirty="0"/>
              <a:t> будет постоянно писать временные файлы на диск, и загрузка займет 10 часов вместо 30 минут.</a:t>
            </a:r>
          </a:p>
          <a:p>
            <a:pPr marL="0" indent="0">
              <a:buNone/>
            </a:pPr>
            <a:r>
              <a:rPr lang="ru-RU" dirty="0"/>
              <a:t>Действие: Мы временно увеличиваем память для операций сортировки и хеширования.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247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вывода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SQL-запросов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уровня SIGHUP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900" dirty="0" smtClean="0"/>
              <a:t>Обратите внимание, что на слайде представлен не чистый </a:t>
            </a:r>
            <a:r>
              <a:rPr lang="en-US" sz="1900" b="1" dirty="0"/>
              <a:t>ALTER SYSTEM SET </a:t>
            </a:r>
            <a:r>
              <a:rPr lang="en-US" sz="1900" b="1" dirty="0" err="1"/>
              <a:t>work_mem</a:t>
            </a:r>
            <a:r>
              <a:rPr lang="en-US" sz="1900" b="1" dirty="0"/>
              <a:t> = '512MB</a:t>
            </a:r>
            <a:r>
              <a:rPr lang="en-US" sz="1900" b="1" dirty="0" smtClean="0"/>
              <a:t>';</a:t>
            </a:r>
            <a:r>
              <a:rPr lang="ru-RU" sz="1900" dirty="0" smtClean="0"/>
              <a:t>, а несколько на первый взгляд усложненный блок:</a:t>
            </a:r>
            <a:br>
              <a:rPr lang="ru-RU" sz="1900" dirty="0" smtClean="0"/>
            </a:br>
            <a:r>
              <a:rPr lang="en-US" sz="1900" b="1" dirty="0" smtClean="0"/>
              <a:t>BEGIN;</a:t>
            </a:r>
            <a:br>
              <a:rPr lang="en-US" sz="1900" b="1" dirty="0" smtClean="0"/>
            </a:br>
            <a:r>
              <a:rPr lang="en-US" sz="1900" b="1" dirty="0" smtClean="0"/>
              <a:t>SET LOCAL </a:t>
            </a:r>
            <a:r>
              <a:rPr lang="en-US" sz="1900" b="1" dirty="0" err="1"/>
              <a:t>work_mem</a:t>
            </a:r>
            <a:r>
              <a:rPr lang="en-US" sz="1900" b="1" dirty="0"/>
              <a:t> = </a:t>
            </a:r>
            <a:r>
              <a:rPr lang="en-US" sz="1900" b="1" dirty="0" smtClean="0"/>
              <a:t>‘128</a:t>
            </a:r>
            <a:r>
              <a:rPr lang="en-US" sz="1900" b="1" dirty="0"/>
              <a:t>MB</a:t>
            </a:r>
            <a:r>
              <a:rPr lang="en-US" sz="1900" b="1" dirty="0" smtClean="0"/>
              <a:t>';</a:t>
            </a:r>
            <a:br>
              <a:rPr lang="en-US" sz="1900" b="1" dirty="0" smtClean="0"/>
            </a:br>
            <a:r>
              <a:rPr lang="en-US" sz="1900" b="1" dirty="0" smtClean="0"/>
              <a:t>COMMIT;</a:t>
            </a:r>
            <a:br>
              <a:rPr lang="en-US" sz="1900" b="1" dirty="0" smtClean="0"/>
            </a:br>
            <a:r>
              <a:rPr lang="ru-RU" sz="1900" dirty="0" smtClean="0"/>
              <a:t>Дело в том, что мои аппаратные возможности не позволяют задавать настолько реальные конфигурации что мы обсуждали это первое, и второе, мне бы не хотелось сохранять введенные настройки поскольку  сервер у меня развернут на </a:t>
            </a:r>
            <a:r>
              <a:rPr lang="en-US" sz="1900" dirty="0" smtClean="0"/>
              <a:t>WSL. </a:t>
            </a:r>
            <a:r>
              <a:rPr lang="ru-RU" sz="1900" dirty="0" smtClean="0"/>
              <a:t>Кроме того обратите внимание на мои опечатки</a:t>
            </a:r>
            <a:br>
              <a:rPr lang="ru-RU" sz="1900" dirty="0" smtClean="0"/>
            </a:br>
            <a:r>
              <a:rPr lang="ru-RU" sz="1900" dirty="0" smtClean="0">
                <a:sym typeface="Wingdings" pitchFamily="2" charset="2"/>
              </a:rPr>
              <a:t></a:t>
            </a:r>
            <a:endParaRPr lang="ru-RU" sz="190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56792"/>
            <a:ext cx="3816423" cy="5186420"/>
          </a:xfrm>
        </p:spPr>
      </p:pic>
    </p:spTree>
    <p:extLst>
      <p:ext uri="{BB962C8B-B14F-4D97-AF65-F5344CB8AC3E}">
        <p14:creationId xmlns:p14="http://schemas.microsoft.com/office/powerpoint/2010/main" val="3013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вывода SQL-запросов уровня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User/Backend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365179"/>
            <a:ext cx="4038600" cy="996005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211960" y="1600200"/>
            <a:ext cx="475252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i="1" dirty="0"/>
              <a:t>Проблема</a:t>
            </a:r>
            <a:r>
              <a:rPr lang="ru-RU" sz="1600" dirty="0"/>
              <a:t>: Данные загружены, но теперь нужно построить индексы для быстрого поиска. Операция CREATE INDEX очень прожорлива. Если мы оставим </a:t>
            </a:r>
            <a:r>
              <a:rPr lang="ru-RU" sz="1600" dirty="0" err="1"/>
              <a:t>work_mem</a:t>
            </a:r>
            <a:r>
              <a:rPr lang="ru-RU" sz="1600" dirty="0"/>
              <a:t> большим для всех, обычные пользователи могут уронить сервер утром. Но нам нужно много памяти только сейчас и только для админа.</a:t>
            </a:r>
          </a:p>
          <a:p>
            <a:pPr marL="0" indent="0">
              <a:buNone/>
            </a:pPr>
            <a:r>
              <a:rPr lang="ru-RU" sz="1600" i="1" dirty="0"/>
              <a:t>Действие</a:t>
            </a:r>
            <a:r>
              <a:rPr lang="ru-RU" sz="1600" dirty="0"/>
              <a:t>: Мы задаем специальный лимит памяти для обслуживания только для роли </a:t>
            </a:r>
            <a:r>
              <a:rPr lang="ru-RU" sz="1600" dirty="0" err="1"/>
              <a:t>postgres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r>
              <a:rPr lang="ru-RU" sz="1600" dirty="0" smtClean="0"/>
              <a:t>-- </a:t>
            </a:r>
            <a:r>
              <a:rPr lang="ru-RU" sz="1600" dirty="0"/>
              <a:t>Это изменение подхватится при следующем входе или через SET</a:t>
            </a:r>
          </a:p>
          <a:p>
            <a:pPr marL="0" indent="0">
              <a:buNone/>
            </a:pPr>
            <a:r>
              <a:rPr lang="ru-RU" sz="1600" b="1" dirty="0"/>
              <a:t>ALTER ROLE </a:t>
            </a:r>
            <a:r>
              <a:rPr lang="ru-RU" sz="1600" b="1" dirty="0" err="1"/>
              <a:t>postgres</a:t>
            </a:r>
            <a:r>
              <a:rPr lang="ru-RU" sz="1600" b="1" dirty="0"/>
              <a:t> SET </a:t>
            </a:r>
            <a:r>
              <a:rPr lang="ru-RU" sz="1600" b="1" dirty="0" err="1"/>
              <a:t>maintenance_work_mem</a:t>
            </a:r>
            <a:r>
              <a:rPr lang="ru-RU" sz="1600" b="1" dirty="0"/>
              <a:t> = '4GB'; </a:t>
            </a:r>
          </a:p>
          <a:p>
            <a:pPr marL="0" indent="0">
              <a:buNone/>
            </a:pPr>
            <a:r>
              <a:rPr lang="ru-RU" sz="1600" i="1" dirty="0" smtClean="0"/>
              <a:t>Результат</a:t>
            </a:r>
            <a:r>
              <a:rPr lang="ru-RU" sz="1600" dirty="0"/>
              <a:t>: Админ строит индексы молниеносно, используя 4 ГБ RAM, пока остальные пользователи продолжают работать со своими скромными настройками. Безопасно и эффективно.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512" y="5013176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Еще раз обращаю внимание на </a:t>
            </a:r>
            <a:r>
              <a:rPr lang="ru-RU" dirty="0" err="1" smtClean="0"/>
              <a:t>ствои</a:t>
            </a:r>
            <a:r>
              <a:rPr lang="ru-RU" dirty="0"/>
              <a:t> </a:t>
            </a:r>
            <a:r>
              <a:rPr lang="ru-RU" dirty="0" smtClean="0"/>
              <a:t>технические ограничения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385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Вступление в силу новых настроек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56792"/>
            <a:ext cx="8424935" cy="5093159"/>
          </a:xfrm>
        </p:spPr>
      </p:pic>
    </p:spTree>
    <p:extLst>
      <p:ext uri="{BB962C8B-B14F-4D97-AF65-F5344CB8AC3E}">
        <p14:creationId xmlns:p14="http://schemas.microsoft.com/office/powerpoint/2010/main" val="178756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Возвращение стандартных настроек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12775"/>
            <a:ext cx="6840760" cy="5231169"/>
          </a:xfrm>
        </p:spPr>
      </p:pic>
      <p:sp>
        <p:nvSpPr>
          <p:cNvPr id="7" name="TextBox 6"/>
          <p:cNvSpPr txBox="1"/>
          <p:nvPr/>
        </p:nvSpPr>
        <p:spPr>
          <a:xfrm>
            <a:off x="7308304" y="1484784"/>
            <a:ext cx="17281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возвращения старых настроек </a:t>
            </a:r>
            <a:r>
              <a:rPr lang="ru-RU" dirty="0" err="1" smtClean="0"/>
              <a:t>иы</a:t>
            </a:r>
            <a:r>
              <a:rPr lang="ru-RU" dirty="0" smtClean="0"/>
              <a:t> всегда используем команду </a:t>
            </a:r>
            <a:r>
              <a:rPr lang="en-US" b="1" i="1" dirty="0" smtClean="0"/>
              <a:t>RESET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ALTER ROLE </a:t>
            </a:r>
            <a:r>
              <a:rPr lang="en-US" b="1" dirty="0" err="1" smtClean="0"/>
              <a:t>postgres</a:t>
            </a:r>
            <a:r>
              <a:rPr lang="en-US" b="1" dirty="0" smtClean="0"/>
              <a:t> RESET </a:t>
            </a:r>
            <a:r>
              <a:rPr lang="en-US" b="1" dirty="0" err="1" smtClean="0"/>
              <a:t>maintenance_work_mem</a:t>
            </a:r>
            <a:r>
              <a:rPr lang="en-US" b="1" dirty="0" smtClean="0"/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i="1" dirty="0" smtClean="0"/>
              <a:t>RESET</a:t>
            </a:r>
            <a:r>
              <a:rPr lang="en-US" dirty="0" smtClean="0"/>
              <a:t> </a:t>
            </a:r>
            <a:r>
              <a:rPr lang="ru-RU" dirty="0" smtClean="0"/>
              <a:t>всегда используется для возврата настроек.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028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вывода SQL-запросов уровня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Postmaster Restart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Проблема: База выросла. Данных стало в 2 раза больше. Старого кэша в 128 МБ (</a:t>
            </a:r>
            <a:r>
              <a:rPr lang="ru-RU" dirty="0" err="1"/>
              <a:t>shared_buffers</a:t>
            </a:r>
            <a:r>
              <a:rPr lang="ru-RU" dirty="0"/>
              <a:t>) катастрофически не хватает. Утром пользователи начнут жаловаться на тормоза, если мы не выделим базе больше общей памяти.</a:t>
            </a:r>
          </a:p>
          <a:p>
            <a:pPr marL="0" indent="0">
              <a:buNone/>
            </a:pPr>
            <a:r>
              <a:rPr lang="ru-RU" dirty="0"/>
              <a:t>Действие: Мы меняем фундаментальный параметр — размер разделяемого буфера.</a:t>
            </a:r>
          </a:p>
          <a:p>
            <a:pPr marL="0" indent="0">
              <a:buNone/>
            </a:pPr>
            <a:r>
              <a:rPr lang="ru-RU" b="1" dirty="0" smtClean="0"/>
              <a:t>ALTER </a:t>
            </a:r>
            <a:r>
              <a:rPr lang="ru-RU" b="1" dirty="0"/>
              <a:t>SYSTEM SET </a:t>
            </a:r>
            <a:r>
              <a:rPr lang="ru-RU" b="1" dirty="0" err="1"/>
              <a:t>shared_buffers</a:t>
            </a:r>
            <a:r>
              <a:rPr lang="ru-RU" b="1" dirty="0"/>
              <a:t> = '8GB';</a:t>
            </a:r>
          </a:p>
          <a:p>
            <a:pPr marL="0" indent="0">
              <a:buNone/>
            </a:pPr>
            <a:r>
              <a:rPr lang="ru-RU" dirty="0" smtClean="0"/>
              <a:t>Результат</a:t>
            </a:r>
            <a:r>
              <a:rPr lang="ru-RU" dirty="0"/>
              <a:t>: Сервер перезапускается, выделяет 8 ГБ под общий кэш. Утром база «греет» данные в памяти, и все отчеты пользователей летают.</a:t>
            </a:r>
          </a:p>
        </p:txBody>
      </p:sp>
    </p:spTree>
    <p:extLst>
      <p:ext uri="{BB962C8B-B14F-4D97-AF65-F5344CB8AC3E}">
        <p14:creationId xmlns:p14="http://schemas.microsoft.com/office/powerpoint/2010/main" val="882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 SYSTEM SET 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shared_buffers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00807"/>
            <a:ext cx="7702744" cy="5254189"/>
          </a:xfrm>
        </p:spPr>
      </p:pic>
    </p:spTree>
    <p:extLst>
      <p:ext uri="{BB962C8B-B14F-4D97-AF65-F5344CB8AC3E}">
        <p14:creationId xmlns:p14="http://schemas.microsoft.com/office/powerpoint/2010/main" val="164109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Момент применения команды уровня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Postmaster Restart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340768"/>
            <a:ext cx="5544616" cy="5766787"/>
          </a:xfrm>
        </p:spPr>
      </p:pic>
    </p:spTree>
    <p:extLst>
      <p:ext uri="{BB962C8B-B14F-4D97-AF65-F5344CB8AC3E}">
        <p14:creationId xmlns:p14="http://schemas.microsoft.com/office/powerpoint/2010/main" val="341179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Момент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отменя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команды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уровня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Postmaster Restart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340768"/>
            <a:ext cx="5904314" cy="5537987"/>
          </a:xfrm>
        </p:spPr>
      </p:pic>
    </p:spTree>
    <p:extLst>
      <p:ext uri="{BB962C8B-B14F-4D97-AF65-F5344CB8AC3E}">
        <p14:creationId xmlns:p14="http://schemas.microsoft.com/office/powerpoint/2010/main" val="301687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522</Words>
  <Application>Microsoft Office PowerPoint</Application>
  <PresentationFormat>Экран (4:3)</PresentationFormat>
  <Paragraphs>40</Paragraphs>
  <Slides>13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Тема Office</vt:lpstr>
      <vt:lpstr>Лист Microsoft Excel</vt:lpstr>
      <vt:lpstr>Postgresql управление состоянием СУБД</vt:lpstr>
      <vt:lpstr>Параметры работы СУБД</vt:lpstr>
      <vt:lpstr>Файлы настроек</vt:lpstr>
      <vt:lpstr>Способы редактирования конфигурационных файлов</vt:lpstr>
      <vt:lpstr>Применение инструкций уровня SIGHUP </vt:lpstr>
      <vt:lpstr>Команда вывода SQL-запросов уровня SIGHUP </vt:lpstr>
      <vt:lpstr>Команда вывода SQL-запросов уровня User/Backend </vt:lpstr>
      <vt:lpstr>Вступление в силу новых настроек</vt:lpstr>
      <vt:lpstr>Возвращение стандартных настроек</vt:lpstr>
      <vt:lpstr>Команда вывода SQL-запросов уровня Postmaster Restart </vt:lpstr>
      <vt:lpstr>Команда ALTER SYSTEM SET shared_buffers </vt:lpstr>
      <vt:lpstr>Момент применения команды уровня Postmaster Restart</vt:lpstr>
      <vt:lpstr>Момент отменя команды уровня Postmaster Restart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37</cp:revision>
  <dcterms:created xsi:type="dcterms:W3CDTF">2024-02-23T18:22:01Z</dcterms:created>
  <dcterms:modified xsi:type="dcterms:W3CDTF">2026-09-06T10:22:45Z</dcterms:modified>
</cp:coreProperties>
</file>