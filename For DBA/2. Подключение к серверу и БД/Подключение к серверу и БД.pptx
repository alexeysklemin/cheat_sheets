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09.08.2026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Postgresql</a:t>
            </a:r>
            <a:r>
              <a:rPr lang="en-US" dirty="0" smtClean="0"/>
              <a:t> </a:t>
            </a:r>
            <a:r>
              <a:rPr lang="ru-RU" dirty="0" smtClean="0"/>
              <a:t>подключение к БД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студентов ССА 3 курса</a:t>
            </a:r>
          </a:p>
        </p:txBody>
      </p:sp>
    </p:spTree>
    <p:extLst>
      <p:ext uri="{BB962C8B-B14F-4D97-AF65-F5344CB8AC3E}">
        <p14:creationId xmlns:p14="http://schemas.microsoft.com/office/powerpoint/2010/main" val="5327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подключения </a:t>
            </a:r>
            <a:b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 серверу и 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Как мы помним из предыдущей шпаргалки в сервере БД может быть несколько кластеров, но и самих серверов может быть несколько, как по хостам (</a:t>
            </a:r>
            <a:r>
              <a:rPr lang="en-US" dirty="0" err="1" smtClean="0"/>
              <a:t>localhost</a:t>
            </a:r>
            <a:r>
              <a:rPr lang="en-US" dirty="0" smtClean="0"/>
              <a:t>, 127.0.0.1)</a:t>
            </a:r>
            <a:r>
              <a:rPr lang="ru-RU" dirty="0" smtClean="0"/>
              <a:t> так и по портам. В самом же кластере у пользователя могут и даже должны быть права не на весь сервер (если это не администратор), а на конкретную базу. И даже в этом случае пользователь администратор к каждой базе в </a:t>
            </a:r>
            <a:r>
              <a:rPr lang="en-US" dirty="0" err="1" smtClean="0"/>
              <a:t>postgresql</a:t>
            </a:r>
            <a:r>
              <a:rPr lang="en-US" dirty="0" smtClean="0"/>
              <a:t> </a:t>
            </a:r>
            <a:r>
              <a:rPr lang="ru-RU" dirty="0" smtClean="0"/>
              <a:t>прописывается с именем и видом прав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каждый раз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53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подключения </a:t>
            </a:r>
            <a:b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 серверу и БД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13" y="2060848"/>
            <a:ext cx="9201025" cy="1656184"/>
          </a:xfrm>
        </p:spPr>
      </p:pic>
      <p:sp>
        <p:nvSpPr>
          <p:cNvPr id="5" name="TextBox 4"/>
          <p:cNvSpPr txBox="1"/>
          <p:nvPr/>
        </p:nvSpPr>
        <p:spPr>
          <a:xfrm>
            <a:off x="179512" y="4005064"/>
            <a:ext cx="8856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данной инструкции не все параметры обязательные, например база может не указываться, в этом случае пользователь: администратор или корневой </a:t>
            </a:r>
            <a:r>
              <a:rPr lang="en-US" dirty="0" err="1" smtClean="0"/>
              <a:t>postgres</a:t>
            </a:r>
            <a:r>
              <a:rPr lang="en-US" dirty="0" smtClean="0"/>
              <a:t> </a:t>
            </a:r>
            <a:r>
              <a:rPr lang="ru-RU" dirty="0" smtClean="0"/>
              <a:t>входит с правами на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весь кластер</a:t>
            </a:r>
            <a:r>
              <a:rPr lang="ru-RU" dirty="0" smtClean="0"/>
              <a:t>. Так же можно не указывать порт тогда по умолчанию команда будет пытаться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подключиться к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 =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5432 порту</a:t>
            </a:r>
            <a:r>
              <a:rPr lang="ru-RU" dirty="0" smtClean="0"/>
              <a:t>. Если при установки из исходников или</a:t>
            </a:r>
            <a:r>
              <a:rPr lang="en-US" dirty="0" smtClean="0"/>
              <a:t> </a:t>
            </a:r>
            <a:r>
              <a:rPr lang="ru-RU" dirty="0" smtClean="0"/>
              <a:t>из </a:t>
            </a:r>
            <a:r>
              <a:rPr lang="en-US" dirty="0" smtClean="0"/>
              <a:t>apt </a:t>
            </a:r>
            <a:r>
              <a:rPr lang="ru-RU" dirty="0" smtClean="0"/>
              <a:t>вы не настраивали иного порта. Если вы не разворачивали кластер БД удаленно а работаете на сервере непосредственно (</a:t>
            </a:r>
            <a:r>
              <a:rPr lang="en-US" dirty="0" err="1" smtClean="0"/>
              <a:t>ssh</a:t>
            </a:r>
            <a:r>
              <a:rPr lang="en-US" dirty="0" smtClean="0"/>
              <a:t>, remote desktop), </a:t>
            </a:r>
            <a:r>
              <a:rPr lang="ru-RU" dirty="0" smtClean="0"/>
              <a:t>то по умолчанию команда будет «стучаться на </a:t>
            </a:r>
            <a:r>
              <a:rPr lang="en-US" dirty="0" err="1" smtClean="0"/>
              <a:t>localhost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924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проверки типа соединения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37" y="1555898"/>
            <a:ext cx="3836532" cy="4897438"/>
          </a:xfr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72272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Команда \</a:t>
            </a:r>
            <a:r>
              <a:rPr lang="en-US" dirty="0" err="1" smtClean="0"/>
              <a:t>conninfo</a:t>
            </a:r>
            <a:r>
              <a:rPr lang="en-US" dirty="0" smtClean="0"/>
              <a:t> </a:t>
            </a:r>
            <a:r>
              <a:rPr lang="ru-RU" dirty="0" smtClean="0"/>
              <a:t>позволяет нам убедиться, к какому кластеру и к какой базе данных мы подключились, так же она показывает хост и порт подключения. Она помогает в случае если мы не находим интересующую нас базу и т.д.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986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GSSAPI Authentication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GSSAPI </a:t>
            </a:r>
            <a:r>
              <a:rPr lang="ru-RU" b="1" dirty="0" err="1"/>
              <a:t>Authentication</a:t>
            </a:r>
            <a:r>
              <a:rPr lang="ru-RU" b="1" dirty="0"/>
              <a:t> (аутентификация GSSAPI)</a:t>
            </a:r>
            <a:r>
              <a:rPr lang="ru-RU" dirty="0"/>
              <a:t> — это стандартный интерфейс для систем единого входа (</a:t>
            </a:r>
            <a:r>
              <a:rPr lang="ru-RU" dirty="0" err="1"/>
              <a:t>Single</a:t>
            </a:r>
            <a:r>
              <a:rPr lang="ru-RU" dirty="0"/>
              <a:t> </a:t>
            </a:r>
            <a:r>
              <a:rPr lang="ru-RU" dirty="0" err="1"/>
              <a:t>Sign-On</a:t>
            </a:r>
            <a:r>
              <a:rPr lang="ru-RU" dirty="0"/>
              <a:t>, SSO), который позволяет приложениям безопасно подтверждать личность пользователя, не передавая пароль по сети .</a:t>
            </a:r>
          </a:p>
          <a:p>
            <a:r>
              <a:rPr lang="ru-RU" dirty="0"/>
              <a:t>Проще говоря, это технология, которая обеспечивает безопасную и </a:t>
            </a:r>
            <a:r>
              <a:rPr lang="ru-RU" dirty="0" err="1"/>
              <a:t>безпарольную</a:t>
            </a:r>
            <a:r>
              <a:rPr lang="ru-RU" dirty="0"/>
              <a:t> аутентификацию. Ее основная идея — отделить процесс аутентификации от самого приложения. Вместо того чтобы приложение само обрабатывало пароли, оно использует GSSAPI как универсальный "переводчик" для работы с разными системами безопасности 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247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 PID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700" dirty="0"/>
              <a:t>PID — это </a:t>
            </a:r>
            <a:r>
              <a:rPr lang="ru-RU" sz="1700" b="1" dirty="0"/>
              <a:t>уникальный номер</a:t>
            </a:r>
            <a:r>
              <a:rPr lang="ru-RU" sz="1700" dirty="0"/>
              <a:t>, который операционная система (</a:t>
            </a:r>
            <a:r>
              <a:rPr lang="ru-RU" sz="1700" dirty="0" err="1"/>
              <a:t>Linux</a:t>
            </a:r>
            <a:r>
              <a:rPr lang="ru-RU" sz="1700" dirty="0"/>
              <a:t>, </a:t>
            </a:r>
            <a:r>
              <a:rPr lang="ru-RU" sz="1700" dirty="0" err="1"/>
              <a:t>Windows</a:t>
            </a:r>
            <a:r>
              <a:rPr lang="ru-RU" sz="1700" dirty="0"/>
              <a:t>, </a:t>
            </a:r>
            <a:r>
              <a:rPr lang="ru-RU" sz="1700" dirty="0" err="1"/>
              <a:t>macOS</a:t>
            </a:r>
            <a:r>
              <a:rPr lang="ru-RU" sz="1700" dirty="0"/>
              <a:t>) присваивает каждому запущенному процессу.</a:t>
            </a:r>
            <a:br>
              <a:rPr lang="ru-RU" sz="1700" dirty="0"/>
            </a:br>
            <a:r>
              <a:rPr lang="ru-RU" sz="1700" dirty="0" smtClean="0"/>
              <a:t>Пока программа </a:t>
            </a:r>
            <a:r>
              <a:rPr lang="ru-RU" sz="1700" dirty="0"/>
              <a:t>работает, у нее есть </a:t>
            </a:r>
            <a:r>
              <a:rPr lang="ru-RU" sz="1700" dirty="0"/>
              <a:t>PID </a:t>
            </a:r>
            <a:r>
              <a:rPr lang="ru-RU" sz="1700" dirty="0" smtClean="0"/>
              <a:t>номер</a:t>
            </a:r>
            <a:r>
              <a:rPr lang="ru-RU" sz="1700" dirty="0"/>
              <a:t>, и по нему система может:</a:t>
            </a:r>
          </a:p>
          <a:p>
            <a:pPr marL="0" indent="0" algn="just">
              <a:buNone/>
            </a:pPr>
            <a:r>
              <a:rPr lang="ru-RU" sz="1700" dirty="0"/>
              <a:t>Находить процесс и управлять им.</a:t>
            </a:r>
          </a:p>
          <a:p>
            <a:pPr marL="0" indent="0" algn="just">
              <a:buNone/>
            </a:pPr>
            <a:r>
              <a:rPr lang="ru-RU" sz="1700" dirty="0"/>
              <a:t>Отправлять ему сигналы (например, принудительно завершить через команду </a:t>
            </a:r>
            <a:r>
              <a:rPr lang="ru-RU" sz="1700" dirty="0" err="1"/>
              <a:t>kill</a:t>
            </a:r>
            <a:r>
              <a:rPr lang="ru-RU" sz="1700" dirty="0"/>
              <a:t> -9 PID).</a:t>
            </a:r>
          </a:p>
          <a:p>
            <a:pPr marL="0" indent="0" algn="just">
              <a:buNone/>
            </a:pPr>
            <a:r>
              <a:rPr lang="ru-RU" sz="1700" dirty="0"/>
              <a:t>Следить за тем, сколько памяти или процессорного времени он потребляет</a:t>
            </a:r>
            <a:r>
              <a:rPr lang="ru-RU" sz="1700" dirty="0" smtClean="0"/>
              <a:t>.</a:t>
            </a:r>
          </a:p>
          <a:p>
            <a:pPr marL="0" indent="0" algn="just">
              <a:buNone/>
            </a:pPr>
            <a:r>
              <a:rPr lang="ru-RU" sz="1700" b="1" dirty="0"/>
              <a:t>Зачем это </a:t>
            </a:r>
            <a:r>
              <a:rPr lang="ru-RU" sz="1700" b="1" dirty="0" smtClean="0"/>
              <a:t>нужно:</a:t>
            </a:r>
          </a:p>
          <a:p>
            <a:pPr algn="just"/>
            <a:r>
              <a:rPr lang="ru-RU" sz="1700" b="1" dirty="0" smtClean="0"/>
              <a:t>Отладка </a:t>
            </a:r>
            <a:r>
              <a:rPr lang="ru-RU" sz="1700" b="1" dirty="0"/>
              <a:t>(</a:t>
            </a:r>
            <a:r>
              <a:rPr lang="ru-RU" sz="1700" b="1" dirty="0" err="1"/>
              <a:t>Debugging</a:t>
            </a:r>
            <a:r>
              <a:rPr lang="ru-RU" sz="1700" b="1" dirty="0"/>
              <a:t>):</a:t>
            </a:r>
            <a:r>
              <a:rPr lang="ru-RU" sz="1700" dirty="0"/>
              <a:t> Если </a:t>
            </a:r>
            <a:r>
              <a:rPr lang="en-US" sz="1700" dirty="0" smtClean="0"/>
              <a:t>backend </a:t>
            </a:r>
            <a:r>
              <a:rPr lang="ru-RU" sz="1700" dirty="0" smtClean="0"/>
              <a:t>упал </a:t>
            </a:r>
            <a:r>
              <a:rPr lang="ru-RU" sz="1700" dirty="0"/>
              <a:t>(</a:t>
            </a:r>
            <a:r>
              <a:rPr lang="ru-RU" sz="1700" dirty="0" err="1"/>
              <a:t>crashed</a:t>
            </a:r>
            <a:r>
              <a:rPr lang="ru-RU" sz="1700" dirty="0"/>
              <a:t>), в системных логах (или в отчетах об ошибках) будет указан PID. По этому номеру </a:t>
            </a:r>
            <a:r>
              <a:rPr lang="ru-RU" sz="1700" dirty="0" smtClean="0"/>
              <a:t>можно найти связанные </a:t>
            </a:r>
            <a:r>
              <a:rPr lang="ru-RU" sz="1700" dirty="0"/>
              <a:t>записи в логах, чтобы понять, что случилось именно с этим экземпляром приложения.</a:t>
            </a:r>
          </a:p>
          <a:p>
            <a:pPr algn="just"/>
            <a:r>
              <a:rPr lang="ru-RU" sz="1700" b="1" dirty="0"/>
              <a:t>Перезагрузка без остановки:</a:t>
            </a:r>
            <a:r>
              <a:rPr lang="ru-RU" sz="1700" dirty="0"/>
              <a:t> Когда </a:t>
            </a:r>
            <a:r>
              <a:rPr lang="ru-RU" sz="1700" dirty="0" smtClean="0"/>
              <a:t>копируется </a:t>
            </a:r>
            <a:r>
              <a:rPr lang="ru-RU" sz="1700" dirty="0"/>
              <a:t>новый код на сервер, </a:t>
            </a:r>
            <a:r>
              <a:rPr lang="ru-RU" sz="1700" dirty="0" smtClean="0"/>
              <a:t>можно </a:t>
            </a:r>
            <a:r>
              <a:rPr lang="ru-RU" sz="1700" dirty="0"/>
              <a:t>отправить сигнал конкретному PID (например, SIGHUP), чтобы процесс перечитал файлы и перезапустился, не прерывая обработку текущих запросов пользователей.</a:t>
            </a:r>
          </a:p>
          <a:p>
            <a:pPr algn="just"/>
            <a:r>
              <a:rPr lang="ru-RU" sz="1700" b="1" dirty="0"/>
              <a:t>Мониторинг ресурсов:</a:t>
            </a:r>
            <a:r>
              <a:rPr lang="ru-RU" sz="1700" dirty="0"/>
              <a:t> С помощью команды </a:t>
            </a:r>
            <a:r>
              <a:rPr lang="ru-RU" sz="1700" dirty="0" err="1"/>
              <a:t>top</a:t>
            </a:r>
            <a:r>
              <a:rPr lang="ru-RU" sz="1700" dirty="0"/>
              <a:t> или </a:t>
            </a:r>
            <a:r>
              <a:rPr lang="ru-RU" sz="1700" dirty="0" err="1"/>
              <a:t>htop</a:t>
            </a:r>
            <a:r>
              <a:rPr lang="ru-RU" sz="1700" dirty="0"/>
              <a:t> в </a:t>
            </a:r>
            <a:r>
              <a:rPr lang="ru-RU" sz="1700" dirty="0" err="1"/>
              <a:t>Linux</a:t>
            </a:r>
            <a:r>
              <a:rPr lang="ru-RU" sz="1700" dirty="0"/>
              <a:t> </a:t>
            </a:r>
            <a:r>
              <a:rPr lang="ru-RU" sz="1700" dirty="0" smtClean="0"/>
              <a:t>можно видеть список </a:t>
            </a:r>
            <a:r>
              <a:rPr lang="ru-RU" sz="1700" dirty="0"/>
              <a:t>всех PID и </a:t>
            </a:r>
            <a:r>
              <a:rPr lang="ru-RU" sz="1700" dirty="0" smtClean="0"/>
              <a:t>можно </a:t>
            </a:r>
            <a:r>
              <a:rPr lang="ru-RU" sz="1700" dirty="0"/>
              <a:t>отсортировать их по нагрузке на CPU, чтобы найти, какой именно процесс </a:t>
            </a:r>
            <a:r>
              <a:rPr lang="en-US" sz="1700" dirty="0" smtClean="0"/>
              <a:t>backend </a:t>
            </a:r>
            <a:r>
              <a:rPr lang="ru-RU" sz="1700" dirty="0" smtClean="0"/>
              <a:t>потребляет максимальное количество ресурсов.</a:t>
            </a:r>
            <a:endParaRPr lang="ru-RU" sz="1700" dirty="0"/>
          </a:p>
        </p:txBody>
      </p:sp>
    </p:spTree>
    <p:extLst>
      <p:ext uri="{BB962C8B-B14F-4D97-AF65-F5344CB8AC3E}">
        <p14:creationId xmlns:p14="http://schemas.microsoft.com/office/powerpoint/2010/main" val="91680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подключения </a:t>
            </a:r>
            <a:b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 кластеру сервера 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3356992"/>
            <a:ext cx="8919913" cy="936757"/>
          </a:xfrm>
        </p:spPr>
      </p:pic>
    </p:spTree>
    <p:extLst>
      <p:ext uri="{BB962C8B-B14F-4D97-AF65-F5344CB8AC3E}">
        <p14:creationId xmlns:p14="http://schemas.microsoft.com/office/powerpoint/2010/main" val="359122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форматирования вывода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SQL-запросов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81266"/>
            <a:ext cx="3672407" cy="5037790"/>
          </a:xfr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Команда </a:t>
            </a:r>
            <a:r>
              <a:rPr lang="ru-RU" dirty="0"/>
              <a:t>\</a:t>
            </a:r>
            <a:r>
              <a:rPr lang="ru-RU" dirty="0" err="1"/>
              <a:t>pset</a:t>
            </a:r>
            <a:r>
              <a:rPr lang="ru-RU" dirty="0"/>
              <a:t> </a:t>
            </a:r>
            <a:r>
              <a:rPr lang="ru-RU" dirty="0" smtClean="0"/>
              <a:t>используется </a:t>
            </a:r>
            <a:r>
              <a:rPr lang="ru-RU" dirty="0"/>
              <a:t>для настройки форматирования и отображения результатов </a:t>
            </a:r>
            <a:r>
              <a:rPr lang="ru-RU" dirty="0" smtClean="0"/>
              <a:t>SQL-запросов.</a:t>
            </a:r>
            <a:br>
              <a:rPr lang="ru-RU" dirty="0" smtClean="0"/>
            </a:br>
            <a:r>
              <a:rPr lang="ru-RU" dirty="0" smtClean="0"/>
              <a:t>Команда </a:t>
            </a:r>
            <a:r>
              <a:rPr lang="ru-RU" dirty="0"/>
              <a:t>\</a:t>
            </a:r>
            <a:r>
              <a:rPr lang="ru-RU" dirty="0" err="1" smtClean="0"/>
              <a:t>pset</a:t>
            </a:r>
            <a:r>
              <a:rPr lang="ru-RU" dirty="0" smtClean="0"/>
              <a:t> без параметров демонстрирует текущие настройки форматирования. На слайде не полный вывод параметров форматирования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36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 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создания и управления переменными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сессии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844824"/>
            <a:ext cx="5292080" cy="2803283"/>
          </a:xfrm>
        </p:spPr>
      </p:pic>
      <p:pic>
        <p:nvPicPr>
          <p:cNvPr id="13" name="Объект 12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88839"/>
            <a:ext cx="3168352" cy="4632151"/>
          </a:xfrm>
        </p:spPr>
      </p:pic>
    </p:spTree>
    <p:extLst>
      <p:ext uri="{BB962C8B-B14F-4D97-AF65-F5344CB8AC3E}">
        <p14:creationId xmlns:p14="http://schemas.microsoft.com/office/powerpoint/2010/main" val="398385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Просмотр таблиц в подключенной базе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даннных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68" y="1772816"/>
            <a:ext cx="8270712" cy="4176464"/>
          </a:xfrm>
        </p:spPr>
      </p:pic>
    </p:spTree>
    <p:extLst>
      <p:ext uri="{BB962C8B-B14F-4D97-AF65-F5344CB8AC3E}">
        <p14:creationId xmlns:p14="http://schemas.microsoft.com/office/powerpoint/2010/main" val="17875679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258</Words>
  <Application>Microsoft Office PowerPoint</Application>
  <PresentationFormat>Экран (4:3)</PresentationFormat>
  <Paragraphs>25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Postgresql подключение к БД</vt:lpstr>
      <vt:lpstr>Команда подключения  к серверу и БД</vt:lpstr>
      <vt:lpstr>Команда подключения  к серверу и БД</vt:lpstr>
      <vt:lpstr>Команда проверки типа соединения </vt:lpstr>
      <vt:lpstr>GSSAPI Authentication </vt:lpstr>
      <vt:lpstr>Backend PID</vt:lpstr>
      <vt:lpstr>Команда подключения  к кластеру сервера БД</vt:lpstr>
      <vt:lpstr>Команда форматирования вывода SQL-запросов </vt:lpstr>
      <vt:lpstr>Команда для создания и управления переменными в сессии</vt:lpstr>
      <vt:lpstr>Просмотр таблиц в подключенной базе даннных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двух сетевых соединений на одном сервере</dc:title>
  <dc:creator>нет2 каби</dc:creator>
  <cp:lastModifiedBy>нет2 каби</cp:lastModifiedBy>
  <cp:revision>30</cp:revision>
  <dcterms:created xsi:type="dcterms:W3CDTF">2024-02-23T18:22:01Z</dcterms:created>
  <dcterms:modified xsi:type="dcterms:W3CDTF">2026-08-09T04:15:02Z</dcterms:modified>
</cp:coreProperties>
</file>