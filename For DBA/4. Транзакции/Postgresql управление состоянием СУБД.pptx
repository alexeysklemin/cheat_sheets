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293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транзакции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Определения и термины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Транзакция в SQL — это логическая единица работы, представляющая собой последовательность одного или нескольких операторов SQL, которая выполняется по принципу «всё или ничего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r>
              <a:rPr lang="ru-RU" dirty="0" smtClean="0"/>
              <a:t>Транзакции работают по принципу </a:t>
            </a:r>
            <a:r>
              <a:rPr lang="en-US" dirty="0" smtClean="0"/>
              <a:t>ACID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870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Принципы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ACID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Atomicity</a:t>
            </a:r>
            <a:r>
              <a:rPr lang="en-US" sz="2400" dirty="0"/>
              <a:t> (</a:t>
            </a:r>
            <a:r>
              <a:rPr lang="ru-RU" sz="2400" dirty="0"/>
              <a:t>Атомарность</a:t>
            </a:r>
            <a:r>
              <a:rPr lang="ru-RU" sz="2400" dirty="0" smtClean="0"/>
              <a:t>) </a:t>
            </a:r>
            <a:r>
              <a:rPr lang="ru-RU" sz="2400" dirty="0"/>
              <a:t>- транзакция либо выполняется полностью, </a:t>
            </a:r>
            <a:r>
              <a:rPr lang="ru-RU" sz="2400" dirty="0" smtClean="0"/>
              <a:t>либо не </a:t>
            </a:r>
            <a:r>
              <a:rPr lang="ru-RU" sz="2400" dirty="0"/>
              <a:t>выполняется вовсе. Для этого начало транзакции отмечается командой BEGIN, а конец — либо COMMIT (фиксация изменений), либо ROLLBACK (отмена изменений</a:t>
            </a:r>
            <a:r>
              <a:rPr lang="ru-RU" sz="2400" dirty="0" smtClean="0"/>
              <a:t>).</a:t>
            </a:r>
            <a:endParaRPr lang="ru-RU" sz="2400" dirty="0"/>
          </a:p>
          <a:p>
            <a:pPr marL="0" indent="0" algn="just">
              <a:buNone/>
            </a:pPr>
            <a:r>
              <a:rPr lang="en-US" sz="2400" b="1" dirty="0"/>
              <a:t>Consistency</a:t>
            </a:r>
            <a:r>
              <a:rPr lang="en-US" sz="2400" dirty="0"/>
              <a:t> (</a:t>
            </a:r>
            <a:r>
              <a:rPr lang="ru-RU" sz="2400" dirty="0"/>
              <a:t>Согласованность) - транзакция переводит базу данных из одного согласованного состояния в другое согласованное состояние (согласованность - соблюдение установленных ограничений</a:t>
            </a:r>
            <a:r>
              <a:rPr lang="ru-RU" sz="2400" dirty="0" smtClean="0"/>
              <a:t>).</a:t>
            </a:r>
          </a:p>
          <a:p>
            <a:pPr marL="0" indent="0" algn="just">
              <a:buNone/>
            </a:pPr>
            <a:r>
              <a:rPr lang="en-US" sz="2400" b="1" dirty="0"/>
              <a:t>Isolation</a:t>
            </a:r>
            <a:r>
              <a:rPr lang="en-US" sz="2400" dirty="0"/>
              <a:t> (</a:t>
            </a:r>
            <a:r>
              <a:rPr lang="ru-RU" sz="2400" dirty="0"/>
              <a:t>Изоляция) - транзакции, выполняющиеся </a:t>
            </a:r>
            <a:r>
              <a:rPr lang="ru-RU" sz="2400" dirty="0" smtClean="0"/>
              <a:t>одновременно с текущей, </a:t>
            </a:r>
            <a:r>
              <a:rPr lang="ru-RU" sz="2400" dirty="0"/>
              <a:t>не должны оказывать на </a:t>
            </a:r>
            <a:r>
              <a:rPr lang="ru-RU" sz="2400" dirty="0" smtClean="0"/>
              <a:t>нее влияния.</a:t>
            </a:r>
            <a:br>
              <a:rPr lang="ru-RU" sz="2400" dirty="0" smtClean="0"/>
            </a:br>
            <a:r>
              <a:rPr lang="en-US" sz="2400" b="1" dirty="0"/>
              <a:t>Durability</a:t>
            </a:r>
            <a:r>
              <a:rPr lang="en-US" sz="2400" dirty="0"/>
              <a:t> (</a:t>
            </a:r>
            <a:r>
              <a:rPr lang="ru-RU" sz="2400" dirty="0"/>
              <a:t>Долговечность</a:t>
            </a:r>
            <a:r>
              <a:rPr lang="ru-RU" sz="2400" dirty="0" smtClean="0"/>
              <a:t>) </a:t>
            </a:r>
            <a:r>
              <a:rPr lang="ru-RU" sz="2400" dirty="0"/>
              <a:t>- после того, как данные зафиксированы, они не должны потеряться даже в случае </a:t>
            </a:r>
            <a:r>
              <a:rPr lang="ru-RU" sz="2400" dirty="0" smtClean="0"/>
              <a:t>сбоя.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6814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Ситуация 1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07504" y="1412776"/>
            <a:ext cx="4038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Алексей первым нажал кнопку «Купить». Сервер магазина немедленно открыл транзакцию, чтобы зарезервировать товар.</a:t>
            </a:r>
          </a:p>
          <a:p>
            <a:pPr marL="0" indent="0">
              <a:buNone/>
            </a:pPr>
            <a:r>
              <a:rPr lang="ru-RU" sz="1400" dirty="0"/>
              <a:t>BEGIN;</a:t>
            </a:r>
          </a:p>
          <a:p>
            <a:pPr marL="0" indent="0">
              <a:buNone/>
            </a:pPr>
            <a:r>
              <a:rPr lang="ru-RU" sz="1400" b="1" dirty="0"/>
              <a:t>SELECT </a:t>
            </a:r>
            <a:r>
              <a:rPr lang="ru-RU" sz="1400" b="1" dirty="0" err="1"/>
              <a:t>stock_count</a:t>
            </a:r>
            <a:r>
              <a:rPr lang="ru-RU" sz="1400" b="1" dirty="0"/>
              <a:t> FROM </a:t>
            </a:r>
            <a:r>
              <a:rPr lang="ru-RU" sz="1400" b="1" dirty="0" err="1"/>
              <a:t>products</a:t>
            </a:r>
            <a:r>
              <a:rPr lang="ru-RU" sz="1400" b="1" dirty="0"/>
              <a:t> WHERE </a:t>
            </a:r>
            <a:r>
              <a:rPr lang="ru-RU" sz="1400" b="1" dirty="0" err="1"/>
              <a:t>product_id</a:t>
            </a:r>
            <a:r>
              <a:rPr lang="ru-RU" sz="1400" b="1" dirty="0"/>
              <a:t> = 101 FOR UPDATE;</a:t>
            </a:r>
          </a:p>
          <a:p>
            <a:pPr marL="0" indent="0">
              <a:buNone/>
            </a:pPr>
            <a:r>
              <a:rPr lang="ru-RU" sz="1400" dirty="0"/>
              <a:t>-- Результат: 1 (Ноутбук есть, строка заблокирована для других)</a:t>
            </a:r>
          </a:p>
          <a:p>
            <a:pPr marL="0" indent="0">
              <a:buNone/>
            </a:pPr>
            <a:r>
              <a:rPr lang="ru-RU" sz="1400" dirty="0"/>
              <a:t>Убедившись, что товар в наличии, система попыталась списать деньги со счета Алексея </a:t>
            </a:r>
            <a:r>
              <a:rPr lang="ru-RU" sz="1400" b="1" dirty="0"/>
              <a:t>(</a:t>
            </a:r>
            <a:r>
              <a:rPr lang="ru-RU" sz="1400" b="1" dirty="0" err="1"/>
              <a:t>user_id</a:t>
            </a:r>
            <a:r>
              <a:rPr lang="ru-RU" sz="1400" b="1" dirty="0"/>
              <a:t> = 1). </a:t>
            </a:r>
            <a:r>
              <a:rPr lang="ru-RU" sz="1400" dirty="0"/>
              <a:t>Но тут выяснилось неприятное: на балансе было всего 45 000 рублей. Сработало ограничение базы данных </a:t>
            </a:r>
            <a:r>
              <a:rPr lang="ru-RU" sz="1400" b="1" dirty="0"/>
              <a:t>CHECK (</a:t>
            </a:r>
            <a:r>
              <a:rPr lang="ru-RU" sz="1400" b="1" dirty="0" err="1"/>
              <a:t>balance</a:t>
            </a:r>
            <a:r>
              <a:rPr lang="ru-RU" sz="1400" b="1" dirty="0"/>
              <a:t> &gt;= 0), </a:t>
            </a:r>
            <a:r>
              <a:rPr lang="ru-RU" sz="1400" dirty="0"/>
              <a:t>и запрос вернул ошибку.</a:t>
            </a:r>
          </a:p>
          <a:p>
            <a:pPr marL="0" indent="0">
              <a:buNone/>
            </a:pPr>
            <a:r>
              <a:rPr lang="ru-RU" sz="1400" dirty="0"/>
              <a:t>Поскольку условие «списания денег» не выполнилось, вся цепочка действий стала бессмысленной. Магазин не может отдать товар, не получив оплату. Система приняла решение отменить всё, что успела сделать в рамках этой попытки.</a:t>
            </a:r>
          </a:p>
          <a:p>
            <a:pPr marL="0" indent="0">
              <a:buNone/>
            </a:pPr>
            <a:r>
              <a:rPr lang="ru-RU" sz="1400" b="1" dirty="0"/>
              <a:t>ROLLBACK;</a:t>
            </a:r>
          </a:p>
          <a:p>
            <a:pPr marL="0" indent="0">
              <a:buNone/>
            </a:pPr>
            <a:r>
              <a:rPr lang="ru-RU" sz="1400" dirty="0"/>
              <a:t>-- Итог: Ноутбук вернулся на склад </a:t>
            </a:r>
            <a:r>
              <a:rPr lang="ru-RU" sz="1400" b="1" dirty="0"/>
              <a:t>(</a:t>
            </a:r>
            <a:r>
              <a:rPr lang="ru-RU" sz="1400" b="1" dirty="0" err="1"/>
              <a:t>stock_count</a:t>
            </a:r>
            <a:r>
              <a:rPr lang="ru-RU" sz="1400" b="1" dirty="0"/>
              <a:t> снова 1), </a:t>
            </a:r>
            <a:r>
              <a:rPr lang="ru-RU" sz="1400" dirty="0"/>
              <a:t>блокировка снята. Алексей остался без покупки.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346" y="2564904"/>
            <a:ext cx="5495654" cy="1152128"/>
          </a:xfrm>
        </p:spPr>
      </p:pic>
    </p:spTree>
    <p:extLst>
      <p:ext uri="{BB962C8B-B14F-4D97-AF65-F5344CB8AC3E}">
        <p14:creationId xmlns:p14="http://schemas.microsoft.com/office/powerpoint/2010/main" val="160636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Ситуация 2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0" y="1268760"/>
            <a:ext cx="4716016" cy="547260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/>
              <a:t>Пока Алексей разбирался со своим банком, в магазин зашел Дмитрий. Он тоже хотел этот ноутбук. Его клиент открыл свою транзакцию и попытался захватить тот же самый товар.</a:t>
            </a:r>
          </a:p>
          <a:p>
            <a:pPr marL="0" indent="0">
              <a:buNone/>
            </a:pPr>
            <a:r>
              <a:rPr lang="ru-RU" dirty="0"/>
              <a:t>-- Сессия Дмитрия</a:t>
            </a:r>
          </a:p>
          <a:p>
            <a:pPr marL="0" indent="0">
              <a:buNone/>
            </a:pPr>
            <a:r>
              <a:rPr lang="ru-RU" b="1" dirty="0"/>
              <a:t>BEGIN;</a:t>
            </a:r>
          </a:p>
          <a:p>
            <a:pPr marL="0" indent="0">
              <a:buNone/>
            </a:pPr>
            <a:r>
              <a:rPr lang="ru-RU" b="1" dirty="0"/>
              <a:t>SELECT </a:t>
            </a:r>
            <a:r>
              <a:rPr lang="ru-RU" b="1" dirty="0" err="1"/>
              <a:t>stock_count</a:t>
            </a:r>
            <a:r>
              <a:rPr lang="ru-RU" b="1" dirty="0"/>
              <a:t> FROM </a:t>
            </a:r>
            <a:r>
              <a:rPr lang="ru-RU" b="1" dirty="0" err="1"/>
              <a:t>products</a:t>
            </a:r>
            <a:r>
              <a:rPr lang="ru-RU" b="1" dirty="0"/>
              <a:t> WHERE </a:t>
            </a:r>
            <a:r>
              <a:rPr lang="ru-RU" b="1" dirty="0" err="1"/>
              <a:t>product_id</a:t>
            </a:r>
            <a:r>
              <a:rPr lang="ru-RU" b="1" dirty="0"/>
              <a:t> = 101 FOR UPDATE;</a:t>
            </a:r>
          </a:p>
          <a:p>
            <a:pPr marL="0" indent="0">
              <a:buNone/>
            </a:pPr>
            <a:r>
              <a:rPr lang="ru-RU" dirty="0"/>
              <a:t>Но в ту же миллисекунду свои действия начал Сергей (</a:t>
            </a:r>
            <a:r>
              <a:rPr lang="ru-RU" b="1" dirty="0" err="1"/>
              <a:t>user_id</a:t>
            </a:r>
            <a:r>
              <a:rPr lang="ru-RU" b="1" dirty="0"/>
              <a:t> = 3</a:t>
            </a:r>
            <a:r>
              <a:rPr lang="ru-RU" dirty="0"/>
              <a:t>). Его транзакция оказалась чуть быстрее или просто удачнее по </a:t>
            </a:r>
            <a:r>
              <a:rPr lang="ru-RU" dirty="0" err="1"/>
              <a:t>таймингу</a:t>
            </a:r>
            <a:r>
              <a:rPr lang="ru-RU" dirty="0"/>
              <a:t> сервера. Сергей успешно заблокировал строку с товаром.</a:t>
            </a:r>
          </a:p>
          <a:p>
            <a:pPr marL="0" indent="0">
              <a:buNone/>
            </a:pPr>
            <a:r>
              <a:rPr lang="ru-RU" dirty="0"/>
              <a:t>-- Сессия Сергея</a:t>
            </a:r>
          </a:p>
          <a:p>
            <a:pPr marL="0" indent="0">
              <a:buNone/>
            </a:pPr>
            <a:r>
              <a:rPr lang="ru-RU" b="1" dirty="0"/>
              <a:t>BEGIN;</a:t>
            </a:r>
          </a:p>
          <a:p>
            <a:pPr marL="0" indent="0">
              <a:buNone/>
            </a:pPr>
            <a:r>
              <a:rPr lang="ru-RU" b="1" dirty="0"/>
              <a:t>SELECT </a:t>
            </a:r>
            <a:r>
              <a:rPr lang="ru-RU" b="1" dirty="0" err="1"/>
              <a:t>stock_count</a:t>
            </a:r>
            <a:r>
              <a:rPr lang="ru-RU" b="1" dirty="0"/>
              <a:t> FROM </a:t>
            </a:r>
            <a:r>
              <a:rPr lang="ru-RU" b="1" dirty="0" err="1"/>
              <a:t>products</a:t>
            </a:r>
            <a:r>
              <a:rPr lang="ru-RU" b="1" dirty="0"/>
              <a:t> WHERE </a:t>
            </a:r>
            <a:r>
              <a:rPr lang="ru-RU" b="1" dirty="0" err="1"/>
              <a:t>product_id</a:t>
            </a:r>
            <a:r>
              <a:rPr lang="ru-RU" b="1" dirty="0"/>
              <a:t> = 101 FOR UPDATE;</a:t>
            </a:r>
          </a:p>
          <a:p>
            <a:pPr marL="0" indent="0">
              <a:buNone/>
            </a:pPr>
            <a:r>
              <a:rPr lang="ru-RU" dirty="0"/>
              <a:t>-- Успех! Строка захвачена Сергеем.</a:t>
            </a:r>
          </a:p>
          <a:p>
            <a:pPr marL="0" indent="0">
              <a:buNone/>
            </a:pPr>
            <a:r>
              <a:rPr lang="ru-RU" dirty="0"/>
              <a:t>Дмитрий теперь вынужден ждать. Его запрос SELECT ... FOR UPDATE завис в состоянии ожидания, пока Сергей не закончит свои дела. Это и есть Изоляция: Дмитрий не может даже посмотреть актуальное состояние товара, пока Сергей владеет блокировкой.</a:t>
            </a:r>
          </a:p>
          <a:p>
            <a:pPr marL="0" indent="0">
              <a:buNone/>
            </a:pPr>
            <a:r>
              <a:rPr lang="ru-RU" dirty="0" smtClean="0"/>
              <a:t>Сергей </a:t>
            </a:r>
            <a:r>
              <a:rPr lang="ru-RU" dirty="0"/>
              <a:t>прошел все проверки. Деньги на его счету были, товар был зарезервирован. Система выполнила финальные изменения: списала товар со склада, уменьшила баланс Сергея и создала запись о заказе.</a:t>
            </a:r>
          </a:p>
          <a:p>
            <a:pPr marL="0" indent="0">
              <a:buNone/>
            </a:pPr>
            <a:r>
              <a:rPr lang="ru-RU" b="1" dirty="0"/>
              <a:t>UPDATE </a:t>
            </a:r>
            <a:r>
              <a:rPr lang="ru-RU" b="1" dirty="0" err="1"/>
              <a:t>products</a:t>
            </a:r>
            <a:r>
              <a:rPr lang="ru-RU" b="1" dirty="0"/>
              <a:t> SET </a:t>
            </a:r>
            <a:r>
              <a:rPr lang="ru-RU" b="1" dirty="0" err="1"/>
              <a:t>stock_count</a:t>
            </a:r>
            <a:r>
              <a:rPr lang="ru-RU" b="1" dirty="0"/>
              <a:t> = </a:t>
            </a:r>
            <a:r>
              <a:rPr lang="ru-RU" b="1" dirty="0" err="1"/>
              <a:t>stock_count</a:t>
            </a:r>
            <a:r>
              <a:rPr lang="ru-RU" b="1" dirty="0"/>
              <a:t> - 1 WHERE </a:t>
            </a:r>
            <a:r>
              <a:rPr lang="ru-RU" b="1" dirty="0" err="1"/>
              <a:t>product_id</a:t>
            </a:r>
            <a:r>
              <a:rPr lang="ru-RU" b="1" dirty="0"/>
              <a:t> = 101;</a:t>
            </a:r>
          </a:p>
          <a:p>
            <a:pPr marL="0" indent="0">
              <a:buNone/>
            </a:pPr>
            <a:r>
              <a:rPr lang="ru-RU" b="1" dirty="0"/>
              <a:t>UPDATE </a:t>
            </a:r>
            <a:r>
              <a:rPr lang="ru-RU" b="1" dirty="0" err="1"/>
              <a:t>users</a:t>
            </a:r>
            <a:r>
              <a:rPr lang="ru-RU" b="1" dirty="0"/>
              <a:t> SET </a:t>
            </a:r>
            <a:r>
              <a:rPr lang="ru-RU" b="1" dirty="0" err="1"/>
              <a:t>balance</a:t>
            </a:r>
            <a:r>
              <a:rPr lang="ru-RU" b="1" dirty="0"/>
              <a:t> = </a:t>
            </a:r>
            <a:r>
              <a:rPr lang="ru-RU" b="1" dirty="0" err="1"/>
              <a:t>balance</a:t>
            </a:r>
            <a:r>
              <a:rPr lang="ru-RU" b="1" dirty="0"/>
              <a:t> - 50000 WHERE </a:t>
            </a:r>
            <a:r>
              <a:rPr lang="ru-RU" b="1" dirty="0" err="1"/>
              <a:t>user_id</a:t>
            </a:r>
            <a:r>
              <a:rPr lang="ru-RU" b="1" dirty="0"/>
              <a:t> = 3;</a:t>
            </a:r>
          </a:p>
          <a:p>
            <a:pPr marL="0" indent="0">
              <a:buNone/>
            </a:pPr>
            <a:r>
              <a:rPr lang="ru-RU" b="1" dirty="0"/>
              <a:t>INSERT INTO </a:t>
            </a:r>
            <a:r>
              <a:rPr lang="ru-RU" b="1" dirty="0" err="1"/>
              <a:t>orders</a:t>
            </a:r>
            <a:r>
              <a:rPr lang="ru-RU" b="1" dirty="0"/>
              <a:t> (</a:t>
            </a:r>
            <a:r>
              <a:rPr lang="ru-RU" b="1" dirty="0" err="1"/>
              <a:t>user_id</a:t>
            </a:r>
            <a:r>
              <a:rPr lang="ru-RU" b="1" dirty="0"/>
              <a:t>, </a:t>
            </a:r>
            <a:r>
              <a:rPr lang="ru-RU" b="1" dirty="0" err="1"/>
              <a:t>product_id</a:t>
            </a:r>
            <a:r>
              <a:rPr lang="ru-RU" b="1" dirty="0"/>
              <a:t>, </a:t>
            </a:r>
            <a:r>
              <a:rPr lang="ru-RU" b="1" dirty="0" err="1"/>
              <a:t>amount</a:t>
            </a:r>
            <a:r>
              <a:rPr lang="ru-RU" b="1" dirty="0"/>
              <a:t>) VALUES (3, 101, 50000);</a:t>
            </a:r>
          </a:p>
          <a:p>
            <a:pPr marL="0" indent="0">
              <a:buNone/>
            </a:pPr>
            <a:r>
              <a:rPr lang="ru-RU" b="1" dirty="0"/>
              <a:t>COMMIT;</a:t>
            </a:r>
          </a:p>
          <a:p>
            <a:pPr marL="0" indent="0">
              <a:buNone/>
            </a:pPr>
            <a:r>
              <a:rPr lang="ru-RU" dirty="0"/>
              <a:t>-- Итог: Данные записаны на </a:t>
            </a:r>
            <a:r>
              <a:rPr lang="ru-RU" dirty="0" smtClean="0"/>
              <a:t>диск. </a:t>
            </a:r>
            <a:r>
              <a:rPr lang="ru-RU" dirty="0"/>
              <a:t>Ноутбук официально продан Сергею.</a:t>
            </a:r>
          </a:p>
          <a:p>
            <a:pPr marL="0" indent="0">
              <a:buNone/>
            </a:pPr>
            <a:r>
              <a:rPr lang="ru-RU" dirty="0"/>
              <a:t>Как только Сергей сделал </a:t>
            </a:r>
            <a:r>
              <a:rPr lang="ru-RU" b="1" dirty="0"/>
              <a:t>COMMIT</a:t>
            </a:r>
            <a:r>
              <a:rPr lang="ru-RU" dirty="0"/>
              <a:t>, блокировка с товара снялась. Запрос Дмитрия, который так долго ждал, наконец-то выполнился. Но вместо ожидаемой единицы он увидел нуль.</a:t>
            </a:r>
          </a:p>
          <a:p>
            <a:pPr marL="0" indent="0">
              <a:buNone/>
            </a:pPr>
            <a:r>
              <a:rPr lang="ru-RU" dirty="0"/>
              <a:t>Увидев, что </a:t>
            </a:r>
            <a:r>
              <a:rPr lang="ru-RU" b="1" dirty="0" err="1"/>
              <a:t>stock_count</a:t>
            </a:r>
            <a:r>
              <a:rPr lang="ru-RU" b="1" dirty="0"/>
              <a:t> = 0</a:t>
            </a:r>
            <a:r>
              <a:rPr lang="ru-RU" dirty="0"/>
              <a:t>, логика приложения Дмитрия поняла: покупать нечего. Нет смысла продолжать транзакцию.</a:t>
            </a:r>
          </a:p>
          <a:p>
            <a:pPr marL="0" indent="0">
              <a:buNone/>
            </a:pPr>
            <a:r>
              <a:rPr lang="ru-RU" b="1" dirty="0"/>
              <a:t>ROLLBACK;</a:t>
            </a:r>
          </a:p>
          <a:p>
            <a:pPr marL="0" indent="0">
              <a:buNone/>
            </a:pPr>
            <a:r>
              <a:rPr lang="ru-RU" dirty="0"/>
              <a:t>-- Итог: Дмитрий закрыл транзакцию без изменений. Он узнал, что опоздал.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28801"/>
            <a:ext cx="4833224" cy="3837796"/>
          </a:xfrm>
        </p:spPr>
      </p:pic>
    </p:spTree>
    <p:extLst>
      <p:ext uri="{BB962C8B-B14F-4D97-AF65-F5344CB8AC3E}">
        <p14:creationId xmlns:p14="http://schemas.microsoft.com/office/powerpoint/2010/main" val="246006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AUTOCOMMIT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/>
              <a:t>Когда вы выполняете транзакции непосредственно из консоли </a:t>
            </a:r>
            <a:r>
              <a:rPr lang="en-US" dirty="0" err="1" smtClean="0"/>
              <a:t>psql</a:t>
            </a:r>
            <a:r>
              <a:rPr lang="en-US" dirty="0" smtClean="0"/>
              <a:t> </a:t>
            </a:r>
            <a:r>
              <a:rPr lang="ru-RU" dirty="0" smtClean="0"/>
              <a:t>рекомендую установить настройку </a:t>
            </a:r>
          </a:p>
          <a:p>
            <a:pPr marL="0" indent="0" algn="ctr">
              <a:buNone/>
            </a:pPr>
            <a:r>
              <a:rPr lang="en-US" b="1" dirty="0" smtClean="0"/>
              <a:t>\</a:t>
            </a:r>
            <a:r>
              <a:rPr lang="en-US" b="1" dirty="0"/>
              <a:t>set AUTOCOMMIT off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99027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Зачем отключать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Безопасность при отладке: Если ты выполняешь серию из 10 команд и на 5-й ошибся, при включенном </a:t>
            </a:r>
            <a:r>
              <a:rPr lang="ru-RU" dirty="0" err="1"/>
              <a:t>автокоммите</a:t>
            </a:r>
            <a:r>
              <a:rPr lang="ru-RU" dirty="0"/>
              <a:t> первые 4 команды уже сохранятся навсегда. Данные будут испорчены.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Полный контроль: Ты сам решаешь, где начинается и заканчивается логическая операция. База не будет «фиксировать» каждый чих без твоего разрешения.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Защита от случайных действий: Если ты случайно запустил DELETE FROM </a:t>
            </a:r>
            <a:r>
              <a:rPr lang="ru-RU" dirty="0" err="1"/>
              <a:t>users</a:t>
            </a:r>
            <a:r>
              <a:rPr lang="ru-RU" dirty="0"/>
              <a:t>;, при выключенном </a:t>
            </a:r>
            <a:r>
              <a:rPr lang="ru-RU" dirty="0" err="1"/>
              <a:t>автокоммите</a:t>
            </a:r>
            <a:r>
              <a:rPr lang="ru-RU" dirty="0"/>
              <a:t> у тебя есть шанс сделать ROLLBACK и спасти базу. При включенном — данные исчезнут мгновенно.</a:t>
            </a:r>
          </a:p>
        </p:txBody>
      </p:sp>
    </p:spTree>
    <p:extLst>
      <p:ext uri="{BB962C8B-B14F-4D97-AF65-F5344CB8AC3E}">
        <p14:creationId xmlns:p14="http://schemas.microsoft.com/office/powerpoint/2010/main" val="15672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значения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8" y="2924944"/>
            <a:ext cx="8428728" cy="1152128"/>
          </a:xfrm>
        </p:spPr>
      </p:pic>
    </p:spTree>
    <p:extLst>
      <p:ext uri="{BB962C8B-B14F-4D97-AF65-F5344CB8AC3E}">
        <p14:creationId xmlns:p14="http://schemas.microsoft.com/office/powerpoint/2010/main" val="40170392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696</Words>
  <Application>Microsoft Office PowerPoint</Application>
  <PresentationFormat>Экран (4:3)</PresentationFormat>
  <Paragraphs>47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Postgresql: транзакции</vt:lpstr>
      <vt:lpstr>Определения и термины</vt:lpstr>
      <vt:lpstr>Принципы ACID</vt:lpstr>
      <vt:lpstr>Ситуация 1</vt:lpstr>
      <vt:lpstr>Ситуация 2</vt:lpstr>
      <vt:lpstr>AUTOCOMMIT off</vt:lpstr>
      <vt:lpstr>Зачем отключать</vt:lpstr>
      <vt:lpstr>Установка значения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43</cp:revision>
  <dcterms:created xsi:type="dcterms:W3CDTF">2024-02-23T18:22:01Z</dcterms:created>
  <dcterms:modified xsi:type="dcterms:W3CDTF">2026-10-17T19:05:14Z</dcterms:modified>
</cp:coreProperties>
</file>