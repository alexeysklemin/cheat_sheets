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3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из исходников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студентов ССА 3 курса</a:t>
            </a:r>
          </a:p>
        </p:txBody>
      </p:sp>
    </p:spTree>
    <p:extLst>
      <p:ext uri="{BB962C8B-B14F-4D97-AF65-F5344CB8AC3E}">
        <p14:creationId xmlns:p14="http://schemas.microsoft.com/office/powerpoint/2010/main" val="5327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Предварительная процедура установки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Перед установкой и сборкой СУБД </a:t>
            </a:r>
            <a:r>
              <a:rPr lang="en-US" dirty="0" err="1"/>
              <a:t>postgresql</a:t>
            </a:r>
            <a:r>
              <a:rPr lang="ru-RU" dirty="0" smtClean="0"/>
              <a:t> необходимо проверить наличие необходимого инструментария (архиваторы, компиляторы, языки программирования, </a:t>
            </a:r>
            <a:r>
              <a:rPr lang="en-US" dirty="0" err="1" smtClean="0"/>
              <a:t>cmake</a:t>
            </a:r>
            <a:r>
              <a:rPr lang="en-US" dirty="0" smtClean="0"/>
              <a:t>)</a:t>
            </a:r>
            <a:r>
              <a:rPr lang="ru-RU" dirty="0" smtClean="0"/>
              <a:t> и в случае необходимости установить.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53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Проверка необходимых инструментов для установки СУБД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0" y="1677777"/>
            <a:ext cx="9131360" cy="4991583"/>
          </a:xfrm>
        </p:spPr>
      </p:pic>
    </p:spTree>
    <p:extLst>
      <p:ext uri="{BB962C8B-B14F-4D97-AF65-F5344CB8AC3E}">
        <p14:creationId xmlns:p14="http://schemas.microsoft.com/office/powerpoint/2010/main" val="300969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Проверка инструментов сборки установки СУБД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37" y="1844824"/>
            <a:ext cx="9192149" cy="4248472"/>
          </a:xfrm>
        </p:spPr>
      </p:pic>
      <p:sp>
        <p:nvSpPr>
          <p:cNvPr id="5" name="TextBox 4"/>
          <p:cNvSpPr txBox="1"/>
          <p:nvPr/>
        </p:nvSpPr>
        <p:spPr>
          <a:xfrm>
            <a:off x="107504" y="6309320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нашем случае архиваторы, </a:t>
            </a:r>
            <a:r>
              <a:rPr lang="en-US" dirty="0" err="1" smtClean="0"/>
              <a:t>cmake</a:t>
            </a:r>
            <a:r>
              <a:rPr lang="en-US" dirty="0" smtClean="0"/>
              <a:t>, </a:t>
            </a:r>
            <a:r>
              <a:rPr lang="en-US" dirty="0" err="1" smtClean="0"/>
              <a:t>gcc</a:t>
            </a:r>
            <a:r>
              <a:rPr lang="en-US" dirty="0" smtClean="0"/>
              <a:t> </a:t>
            </a:r>
            <a:r>
              <a:rPr lang="ru-RU" dirty="0" smtClean="0"/>
              <a:t>и</a:t>
            </a:r>
            <a:r>
              <a:rPr lang="en-US" dirty="0" smtClean="0"/>
              <a:t> python </a:t>
            </a:r>
            <a:r>
              <a:rPr lang="ru-RU" dirty="0" smtClean="0"/>
              <a:t> оказались уже в ОС из коробки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07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Устанановка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35" y="3356993"/>
            <a:ext cx="4682407" cy="1080120"/>
          </a:xfrm>
        </p:spPr>
      </p:pic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455791"/>
            <a:ext cx="4038600" cy="2814781"/>
          </a:xfrm>
        </p:spPr>
      </p:pic>
      <p:sp>
        <p:nvSpPr>
          <p:cNvPr id="9" name="TextBox 8"/>
          <p:cNvSpPr txBox="1"/>
          <p:nvPr/>
        </p:nvSpPr>
        <p:spPr>
          <a:xfrm>
            <a:off x="107504" y="4581128"/>
            <a:ext cx="4392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(Tool Command Language) —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это скриптовый язык он нужен для PL/</a:t>
            </a:r>
            <a:r>
              <a:rPr lang="ru-R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Tcl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 процедурного языка, который позволяет писать хранимые процедуры и функции прямо на </a:t>
            </a:r>
            <a:r>
              <a:rPr lang="ru-R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Tcl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внутри базы данных </a:t>
            </a:r>
            <a:r>
              <a:rPr lang="ru-R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5589240"/>
            <a:ext cx="424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 как видим у него есть зависимости, поэтому установить его надо правильно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749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6" y="1988841"/>
            <a:ext cx="8776237" cy="3779548"/>
          </a:xfrm>
        </p:spPr>
      </p:pic>
    </p:spTree>
    <p:extLst>
      <p:ext uri="{BB962C8B-B14F-4D97-AF65-F5344CB8AC3E}">
        <p14:creationId xmlns:p14="http://schemas.microsoft.com/office/powerpoint/2010/main" val="199420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Проверка успешной установки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tcl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необходимых компонентов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28184" y="3933056"/>
            <a:ext cx="248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Здесь мы указываем статический адрес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6992"/>
            <a:ext cx="9144000" cy="1283368"/>
          </a:xfrm>
        </p:spPr>
      </p:pic>
    </p:spTree>
    <p:extLst>
      <p:ext uri="{BB962C8B-B14F-4D97-AF65-F5344CB8AC3E}">
        <p14:creationId xmlns:p14="http://schemas.microsoft.com/office/powerpoint/2010/main" val="94390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Процесс установки СУБД из исходников с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github.com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30" y="1564726"/>
            <a:ext cx="9026470" cy="5248650"/>
          </a:xfrm>
        </p:spPr>
      </p:pic>
    </p:spTree>
    <p:extLst>
      <p:ext uri="{BB962C8B-B14F-4D97-AF65-F5344CB8AC3E}">
        <p14:creationId xmlns:p14="http://schemas.microsoft.com/office/powerpoint/2010/main" val="426631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pkg-config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его компонентов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" y="1556792"/>
            <a:ext cx="9099125" cy="4192877"/>
          </a:xfrm>
        </p:spPr>
      </p:pic>
      <p:sp>
        <p:nvSpPr>
          <p:cNvPr id="5" name="TextBox 4"/>
          <p:cNvSpPr txBox="1"/>
          <p:nvPr/>
        </p:nvSpPr>
        <p:spPr>
          <a:xfrm>
            <a:off x="35496" y="6011996"/>
            <a:ext cx="896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Для успешной установки </a:t>
            </a:r>
            <a:r>
              <a:rPr lang="en-US" dirty="0" err="1" smtClean="0"/>
              <a:t>postgresql</a:t>
            </a:r>
            <a:r>
              <a:rPr lang="en-US" dirty="0" smtClean="0"/>
              <a:t> </a:t>
            </a:r>
            <a:r>
              <a:rPr lang="ru-RU" dirty="0" smtClean="0"/>
              <a:t>необходим </a:t>
            </a:r>
            <a:r>
              <a:rPr lang="en-US" dirty="0" err="1" smtClean="0"/>
              <a:t>pkg-config</a:t>
            </a:r>
            <a:r>
              <a:rPr lang="en-US" dirty="0" smtClean="0"/>
              <a:t> </a:t>
            </a:r>
            <a:r>
              <a:rPr lang="ru-RU" dirty="0" smtClean="0"/>
              <a:t>и его компонент </a:t>
            </a:r>
            <a:r>
              <a:rPr lang="en-US" dirty="0" err="1" smtClean="0"/>
              <a:t>pkgconf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909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libicu-dev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20" y="1114644"/>
            <a:ext cx="7291663" cy="4157296"/>
          </a:xfrm>
        </p:spPr>
      </p:pic>
      <p:sp>
        <p:nvSpPr>
          <p:cNvPr id="8" name="TextBox 7"/>
          <p:cNvSpPr txBox="1"/>
          <p:nvPr/>
        </p:nvSpPr>
        <p:spPr>
          <a:xfrm>
            <a:off x="325488" y="5124981"/>
            <a:ext cx="87849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libicu-dev</a:t>
            </a:r>
            <a:r>
              <a:rPr lang="ru-RU" dirty="0"/>
              <a:t> — пакет, который даёт </a:t>
            </a:r>
            <a:r>
              <a:rPr lang="ru-RU" dirty="0" err="1"/>
              <a:t>PostgreSQL</a:t>
            </a:r>
            <a:r>
              <a:rPr lang="ru-RU" dirty="0"/>
              <a:t> «понимание» человеческого языка.</a:t>
            </a:r>
          </a:p>
          <a:p>
            <a:r>
              <a:rPr lang="ru-RU" dirty="0"/>
              <a:t>Без него база данных не смогла бы правильно сортировать текст на разных языках, работать с </a:t>
            </a:r>
            <a:r>
              <a:rPr lang="ru-RU" dirty="0" err="1"/>
              <a:t>Unicode</a:t>
            </a:r>
            <a:r>
              <a:rPr lang="ru-RU" dirty="0"/>
              <a:t>-символами и обеспечивать стабильность индексов при миграциях между серверами.</a:t>
            </a:r>
          </a:p>
          <a:p>
            <a:r>
              <a:rPr lang="ru-RU" dirty="0"/>
              <a:t>Это тот самый случай, когда одна маленькая библиотека решает огромную проблему интернационализации.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332391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libicu-dev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250918"/>
            <a:ext cx="8129891" cy="5274426"/>
          </a:xfrm>
        </p:spPr>
      </p:pic>
    </p:spTree>
    <p:extLst>
      <p:ext uri="{BB962C8B-B14F-4D97-AF65-F5344CB8AC3E}">
        <p14:creationId xmlns:p14="http://schemas.microsoft.com/office/powerpoint/2010/main" val="276610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Проверка успешной установки </a:t>
            </a:r>
            <a:b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libicu-dev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21" y="3068960"/>
            <a:ext cx="8674517" cy="1584176"/>
          </a:xfrm>
        </p:spPr>
      </p:pic>
    </p:spTree>
    <p:extLst>
      <p:ext uri="{BB962C8B-B14F-4D97-AF65-F5344CB8AC3E}">
        <p14:creationId xmlns:p14="http://schemas.microsoft.com/office/powerpoint/2010/main" val="263797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bison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8" y="1147474"/>
            <a:ext cx="8698370" cy="5377870"/>
          </a:xfrm>
        </p:spPr>
      </p:pic>
    </p:spTree>
    <p:extLst>
      <p:ext uri="{BB962C8B-B14F-4D97-AF65-F5344CB8AC3E}">
        <p14:creationId xmlns:p14="http://schemas.microsoft.com/office/powerpoint/2010/main" val="196458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flex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196752"/>
            <a:ext cx="8462009" cy="5472608"/>
          </a:xfrm>
        </p:spPr>
      </p:pic>
    </p:spTree>
    <p:extLst>
      <p:ext uri="{BB962C8B-B14F-4D97-AF65-F5344CB8AC3E}">
        <p14:creationId xmlns:p14="http://schemas.microsoft.com/office/powerpoint/2010/main" val="17568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libreadline-dev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2" y="1700808"/>
            <a:ext cx="9029852" cy="4392488"/>
          </a:xfrm>
        </p:spPr>
      </p:pic>
    </p:spTree>
    <p:extLst>
      <p:ext uri="{BB962C8B-B14F-4D97-AF65-F5344CB8AC3E}">
        <p14:creationId xmlns:p14="http://schemas.microsoft.com/office/powerpoint/2010/main" val="227520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Установка </a:t>
            </a:r>
            <a:r>
              <a:rPr lang="en-US" dirty="0" err="1" smtClean="0"/>
              <a:t>libssl-dev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4" y="1700808"/>
            <a:ext cx="8938922" cy="4320479"/>
          </a:xfrm>
        </p:spPr>
      </p:pic>
    </p:spTree>
    <p:extLst>
      <p:ext uri="{BB962C8B-B14F-4D97-AF65-F5344CB8AC3E}">
        <p14:creationId xmlns:p14="http://schemas.microsoft.com/office/powerpoint/2010/main" val="27735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библиотек расширенных возможностей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1" y="1358754"/>
            <a:ext cx="8136903" cy="5490118"/>
          </a:xfrm>
        </p:spPr>
      </p:pic>
    </p:spTree>
    <p:extLst>
      <p:ext uri="{BB962C8B-B14F-4D97-AF65-F5344CB8AC3E}">
        <p14:creationId xmlns:p14="http://schemas.microsoft.com/office/powerpoint/2010/main" val="111137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Установленные библиотеки для расширения возможностей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Сжатие (</a:t>
            </a:r>
            <a:r>
              <a:rPr lang="ru-RU" b="1" i="1" dirty="0"/>
              <a:t>LZ4, ZSTD</a:t>
            </a:r>
            <a:r>
              <a:rPr lang="ru-RU" dirty="0"/>
              <a:t>) — для производительности и экономии места</a:t>
            </a:r>
          </a:p>
          <a:p>
            <a:r>
              <a:rPr lang="ru-RU" dirty="0"/>
              <a:t>Шифрование (</a:t>
            </a:r>
            <a:r>
              <a:rPr lang="ru-RU" b="1" i="1" dirty="0" err="1"/>
              <a:t>OpenSSL</a:t>
            </a:r>
            <a:r>
              <a:rPr lang="ru-RU" dirty="0"/>
              <a:t>) — для безопасности данных</a:t>
            </a:r>
          </a:p>
          <a:p>
            <a:r>
              <a:rPr lang="ru-RU" dirty="0"/>
              <a:t>XML (</a:t>
            </a:r>
            <a:r>
              <a:rPr lang="ru-RU" b="1" i="1" dirty="0"/>
              <a:t>libxml2, </a:t>
            </a:r>
            <a:r>
              <a:rPr lang="ru-RU" b="1" i="1" dirty="0" err="1"/>
              <a:t>libxslt</a:t>
            </a:r>
            <a:r>
              <a:rPr lang="ru-RU" dirty="0"/>
              <a:t>) — для интеграции с XML-системами</a:t>
            </a:r>
          </a:p>
          <a:p>
            <a:r>
              <a:rPr lang="ru-RU" dirty="0"/>
              <a:t>Инфраструктура (</a:t>
            </a:r>
            <a:r>
              <a:rPr lang="ru-RU" b="1" i="1" dirty="0" err="1"/>
              <a:t>systemd</a:t>
            </a:r>
            <a:r>
              <a:rPr lang="ru-RU" dirty="0"/>
              <a:t>) — для правильного управления сервисом</a:t>
            </a:r>
          </a:p>
          <a:p>
            <a:r>
              <a:rPr lang="ru-RU" dirty="0"/>
              <a:t>Консоль (</a:t>
            </a:r>
            <a:r>
              <a:rPr lang="ru-RU" b="1" i="1" dirty="0" err="1"/>
              <a:t>readline</a:t>
            </a:r>
            <a:r>
              <a:rPr lang="ru-RU" dirty="0"/>
              <a:t>) — для удобства администратора</a:t>
            </a:r>
          </a:p>
          <a:p>
            <a:r>
              <a:rPr lang="ru-RU" dirty="0"/>
              <a:t>Сборка (</a:t>
            </a:r>
            <a:r>
              <a:rPr lang="ru-RU" b="1" i="1" dirty="0" err="1"/>
              <a:t>flex</a:t>
            </a:r>
            <a:r>
              <a:rPr lang="ru-RU" b="1" i="1" dirty="0"/>
              <a:t>, </a:t>
            </a:r>
            <a:r>
              <a:rPr lang="ru-RU" b="1" i="1" dirty="0" err="1"/>
              <a:t>bison</a:t>
            </a:r>
            <a:r>
              <a:rPr lang="ru-RU" dirty="0"/>
              <a:t>) — фундамент, без которого SQL-</a:t>
            </a:r>
            <a:r>
              <a:rPr lang="ru-RU" dirty="0" err="1"/>
              <a:t>парсер</a:t>
            </a:r>
            <a:r>
              <a:rPr lang="ru-RU" dirty="0"/>
              <a:t> просто не соберётся</a:t>
            </a:r>
          </a:p>
        </p:txBody>
      </p:sp>
    </p:spTree>
    <p:extLst>
      <p:ext uri="{BB962C8B-B14F-4D97-AF65-F5344CB8AC3E}">
        <p14:creationId xmlns:p14="http://schemas.microsoft.com/office/powerpoint/2010/main" val="333789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flex, bison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flex</a:t>
            </a:r>
            <a:r>
              <a:rPr lang="ru-RU" dirty="0"/>
              <a:t> — лексический анализатор для SQL-</a:t>
            </a:r>
            <a:r>
              <a:rPr lang="ru-RU" dirty="0" err="1"/>
              <a:t>парсера</a:t>
            </a:r>
            <a:endParaRPr lang="ru-RU" dirty="0"/>
          </a:p>
          <a:p>
            <a:r>
              <a:rPr lang="ru-RU" dirty="0" err="1"/>
              <a:t>bison</a:t>
            </a:r>
            <a:r>
              <a:rPr lang="ru-RU" dirty="0"/>
              <a:t> — генератор синтаксического анализатора для SQL-</a:t>
            </a:r>
            <a:r>
              <a:rPr lang="ru-RU" dirty="0" err="1"/>
              <a:t>парсера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581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Попытка конфигурирования СУБД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4" y="1844824"/>
            <a:ext cx="8882968" cy="3960440"/>
          </a:xfrm>
        </p:spPr>
      </p:pic>
    </p:spTree>
    <p:extLst>
      <p:ext uri="{BB962C8B-B14F-4D97-AF65-F5344CB8AC3E}">
        <p14:creationId xmlns:p14="http://schemas.microsoft.com/office/powerpoint/2010/main" val="50539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Сборка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78" y="1556792"/>
            <a:ext cx="9311774" cy="1872208"/>
          </a:xfrm>
        </p:spPr>
      </p:pic>
      <p:sp>
        <p:nvSpPr>
          <p:cNvPr id="5" name="TextBox 4"/>
          <p:cNvSpPr txBox="1"/>
          <p:nvPr/>
        </p:nvSpPr>
        <p:spPr>
          <a:xfrm>
            <a:off x="179512" y="3717032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Поскольку мы видим приглашение консоли к следующей команде конфигурация </a:t>
            </a:r>
            <a:r>
              <a:rPr lang="en-US" dirty="0" err="1" smtClean="0"/>
              <a:t>postgresql</a:t>
            </a:r>
            <a:r>
              <a:rPr lang="en-US" dirty="0" smtClean="0"/>
              <a:t> </a:t>
            </a:r>
            <a:r>
              <a:rPr lang="ru-RU" dirty="0" smtClean="0"/>
              <a:t>прошла успешно, теперь нужно осуществить ее сборку с помощью инструментов </a:t>
            </a:r>
            <a:r>
              <a:rPr lang="en-US" dirty="0" smtClean="0"/>
              <a:t>make/</a:t>
            </a:r>
            <a:r>
              <a:rPr lang="en-US" dirty="0" err="1" smtClean="0"/>
              <a:t>cmake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4664720"/>
            <a:ext cx="9145016" cy="207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2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36512" y="44624"/>
            <a:ext cx="9180512" cy="18002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Ввод пользователя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регистрация его в ОС для работы с сервером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276872"/>
            <a:ext cx="9013712" cy="1008112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" y="3428999"/>
            <a:ext cx="9033445" cy="811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4509120"/>
            <a:ext cx="9073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Командой</a:t>
            </a:r>
          </a:p>
          <a:p>
            <a:r>
              <a:rPr lang="en-US" dirty="0" err="1" smtClean="0">
                <a:solidFill>
                  <a:schemeClr val="accent4"/>
                </a:solidFill>
              </a:rPr>
              <a:t>sudo</a:t>
            </a:r>
            <a:r>
              <a:rPr lang="en-US" dirty="0" smtClean="0">
                <a:solidFill>
                  <a:schemeClr val="accent4"/>
                </a:solidFill>
              </a:rPr>
              <a:t> </a:t>
            </a:r>
            <a:r>
              <a:rPr lang="en-US" dirty="0" err="1" smtClean="0">
                <a:solidFill>
                  <a:schemeClr val="accent4"/>
                </a:solidFill>
              </a:rPr>
              <a:t>mkdir</a:t>
            </a:r>
            <a:r>
              <a:rPr lang="en-US" dirty="0" smtClean="0">
                <a:solidFill>
                  <a:schemeClr val="accent4"/>
                </a:solidFill>
              </a:rPr>
              <a:t> –p /</a:t>
            </a:r>
            <a:r>
              <a:rPr lang="en-US" dirty="0" err="1" smtClean="0">
                <a:solidFill>
                  <a:schemeClr val="accent4"/>
                </a:solidFill>
              </a:rPr>
              <a:t>usr</a:t>
            </a:r>
            <a:r>
              <a:rPr lang="en-US" dirty="0" smtClean="0">
                <a:solidFill>
                  <a:schemeClr val="accent4"/>
                </a:solidFill>
              </a:rPr>
              <a:t>/local/</a:t>
            </a:r>
            <a:r>
              <a:rPr lang="en-US" dirty="0" err="1" smtClean="0">
                <a:solidFill>
                  <a:schemeClr val="accent4"/>
                </a:solidFill>
              </a:rPr>
              <a:t>pgsql</a:t>
            </a:r>
            <a:r>
              <a:rPr lang="en-US" dirty="0" smtClean="0">
                <a:solidFill>
                  <a:schemeClr val="accent4"/>
                </a:solidFill>
              </a:rPr>
              <a:t>/data</a:t>
            </a:r>
          </a:p>
          <a:p>
            <a:r>
              <a:rPr lang="ru-RU" dirty="0" smtClean="0"/>
              <a:t>Мы формируем директорию в которой будет собственно храниться база данных </a:t>
            </a:r>
            <a:r>
              <a:rPr lang="en-US" dirty="0" err="1" smtClean="0"/>
              <a:t>postgres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" y="5480074"/>
            <a:ext cx="9036498" cy="6007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7260" y="6234340"/>
            <a:ext cx="885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Присваиваем директории БД владельца </a:t>
            </a:r>
            <a:r>
              <a:rPr lang="en-US" dirty="0" err="1" smtClean="0"/>
              <a:t>postgres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4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Инициализация сервера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1" y="2060848"/>
            <a:ext cx="8873875" cy="3672408"/>
          </a:xfrm>
        </p:spPr>
      </p:pic>
    </p:spTree>
    <p:extLst>
      <p:ext uri="{BB962C8B-B14F-4D97-AF65-F5344CB8AC3E}">
        <p14:creationId xmlns:p14="http://schemas.microsoft.com/office/powerpoint/2010/main" val="117083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Неудачная попытка старта сервера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976" y="4111912"/>
            <a:ext cx="8024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Обратите внимание на надпись </a:t>
            </a:r>
            <a:r>
              <a:rPr lang="en-US" dirty="0" err="1" smtClean="0"/>
              <a:t>pg_ctl</a:t>
            </a:r>
            <a:r>
              <a:rPr lang="en-US" dirty="0" smtClean="0"/>
              <a:t> could not start server. </a:t>
            </a:r>
            <a:r>
              <a:rPr lang="ru-RU" dirty="0" smtClean="0"/>
              <a:t>Она говорит что сервер СУБД стартовать не смог. У этого может быть несколько причин, в частности что другой экземпляр сервера уже работает в операционной системе.  Проверить это можно в лог-файле, а так же командой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netstat</a:t>
            </a:r>
            <a:r>
              <a:rPr lang="en-US" dirty="0"/>
              <a:t> -</a:t>
            </a:r>
            <a:r>
              <a:rPr lang="en-US" dirty="0" err="1"/>
              <a:t>tlnp</a:t>
            </a:r>
            <a:r>
              <a:rPr lang="en-US" dirty="0"/>
              <a:t> | </a:t>
            </a:r>
            <a:r>
              <a:rPr lang="en-US" dirty="0" err="1"/>
              <a:t>grep</a:t>
            </a:r>
            <a:r>
              <a:rPr lang="en-US" dirty="0"/>
              <a:t> 5432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96" y="1628800"/>
            <a:ext cx="8039797" cy="1699407"/>
          </a:xfrm>
        </p:spPr>
      </p:pic>
    </p:spTree>
    <p:extLst>
      <p:ext uri="{BB962C8B-B14F-4D97-AF65-F5344CB8AC3E}">
        <p14:creationId xmlns:p14="http://schemas.microsoft.com/office/powerpoint/2010/main" val="378052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Успешный старт сервера СУБД и успешный вход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вв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консоль сервера СУБД под пользователем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204864"/>
            <a:ext cx="8229600" cy="443233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140968"/>
            <a:ext cx="8208912" cy="141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7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Список баз данных на текущем сервере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81" y="3013478"/>
            <a:ext cx="8055038" cy="1699407"/>
          </a:xfrm>
        </p:spPr>
      </p:pic>
    </p:spTree>
    <p:extLst>
      <p:ext uri="{BB962C8B-B14F-4D97-AF65-F5344CB8AC3E}">
        <p14:creationId xmlns:p14="http://schemas.microsoft.com/office/powerpoint/2010/main" val="64896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Выход из консоли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060848"/>
            <a:ext cx="8186174" cy="1152128"/>
          </a:xfrm>
        </p:spPr>
      </p:pic>
    </p:spTree>
    <p:extLst>
      <p:ext uri="{BB962C8B-B14F-4D97-AF65-F5344CB8AC3E}">
        <p14:creationId xmlns:p14="http://schemas.microsoft.com/office/powerpoint/2010/main" val="353199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-99392"/>
            <a:ext cx="9036496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Автоматизация запуска сервера СУБД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56" y="2257564"/>
            <a:ext cx="7660488" cy="328734"/>
          </a:xfrm>
        </p:spPr>
      </p:pic>
      <p:sp>
        <p:nvSpPr>
          <p:cNvPr id="4" name="TextBox 3"/>
          <p:cNvSpPr txBox="1"/>
          <p:nvPr/>
        </p:nvSpPr>
        <p:spPr>
          <a:xfrm>
            <a:off x="0" y="1057235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целом сервер установлен и инициализирован, задача казалось бы выполнена. Однако, при повторном запуске сервера </a:t>
            </a:r>
            <a:r>
              <a:rPr lang="en-US" dirty="0" smtClean="0"/>
              <a:t>Ubuntu </a:t>
            </a:r>
            <a:r>
              <a:rPr lang="ru-RU" dirty="0" smtClean="0"/>
              <a:t>сервер БД будет в «спящем» состоянии. И что бы его не приходилось каждый раз запускать руками администратора необходимо сформировать </a:t>
            </a:r>
            <a:r>
              <a:rPr lang="en-US" dirty="0" err="1" smtClean="0"/>
              <a:t>ini</a:t>
            </a:r>
            <a:r>
              <a:rPr lang="en-US" dirty="0" smtClean="0"/>
              <a:t>-file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615485"/>
            <a:ext cx="8964488" cy="434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5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Неудачный запуск сервера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0"/>
            <a:ext cx="8138865" cy="1082134"/>
          </a:xfrm>
        </p:spPr>
      </p:pic>
      <p:sp>
        <p:nvSpPr>
          <p:cNvPr id="6" name="TextBox 5"/>
          <p:cNvSpPr txBox="1"/>
          <p:nvPr/>
        </p:nvSpPr>
        <p:spPr>
          <a:xfrm>
            <a:off x="611560" y="3068960"/>
            <a:ext cx="806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данном случае нужно перепроверить не запущен ли сервер СУБД уже в данный момент возможно в тестовых целях сервер был запущен вручную и не остановлен.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262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Подтверждение успешного запуска сервера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8985"/>
            <a:ext cx="8229600" cy="3948393"/>
          </a:xfrm>
        </p:spPr>
      </p:pic>
    </p:spTree>
    <p:extLst>
      <p:ext uri="{BB962C8B-B14F-4D97-AF65-F5344CB8AC3E}">
        <p14:creationId xmlns:p14="http://schemas.microsoft.com/office/powerpoint/2010/main" val="196918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Фиксирование автозапуска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00808"/>
            <a:ext cx="8229600" cy="532906"/>
          </a:xfrm>
        </p:spPr>
      </p:pic>
      <p:sp>
        <p:nvSpPr>
          <p:cNvPr id="6" name="TextBox 5"/>
          <p:cNvSpPr txBox="1"/>
          <p:nvPr/>
        </p:nvSpPr>
        <p:spPr>
          <a:xfrm>
            <a:off x="539552" y="2564904"/>
            <a:ext cx="7992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/>
              <a:t>И не забываем фиксировать автозапуск сервера </a:t>
            </a:r>
            <a:r>
              <a:rPr lang="en-US" u="sng" dirty="0" err="1" smtClean="0"/>
              <a:t>postgresql</a:t>
            </a:r>
            <a:r>
              <a:rPr lang="en-US" u="sng" dirty="0" smtClean="0"/>
              <a:t> </a:t>
            </a:r>
            <a:r>
              <a:rPr lang="ru-RU" u="sng" dirty="0" smtClean="0"/>
              <a:t>при старте сервера</a:t>
            </a:r>
          </a:p>
          <a:p>
            <a:r>
              <a:rPr lang="ru-RU" dirty="0" smtClean="0"/>
              <a:t>В идеальном мире нам нужна еще инструкция:</a:t>
            </a:r>
            <a:br>
              <a:rPr lang="ru-RU" dirty="0" smtClean="0"/>
            </a:br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/local/</a:t>
            </a:r>
            <a:r>
              <a:rPr lang="en-US" dirty="0" err="1"/>
              <a:t>pgsql</a:t>
            </a:r>
            <a:r>
              <a:rPr lang="en-US" dirty="0"/>
              <a:t>/bin/</a:t>
            </a:r>
            <a:r>
              <a:rPr lang="en-US" dirty="0" err="1"/>
              <a:t>initdb</a:t>
            </a:r>
            <a:r>
              <a:rPr lang="en-US" dirty="0"/>
              <a:t> -U </a:t>
            </a:r>
            <a:r>
              <a:rPr lang="en-US" dirty="0" err="1"/>
              <a:t>postgres</a:t>
            </a:r>
            <a:r>
              <a:rPr lang="en-US" dirty="0"/>
              <a:t> -k -D /</a:t>
            </a:r>
            <a:r>
              <a:rPr lang="en-US" dirty="0" err="1" smtClean="0"/>
              <a:t>usr</a:t>
            </a:r>
            <a:r>
              <a:rPr lang="en-US" dirty="0" smtClean="0"/>
              <a:t>/local/</a:t>
            </a:r>
            <a:r>
              <a:rPr lang="en-US" dirty="0" err="1" smtClean="0"/>
              <a:t>pgsql</a:t>
            </a:r>
            <a:r>
              <a:rPr lang="en-US" dirty="0" smtClean="0"/>
              <a:t>/data</a:t>
            </a:r>
            <a:endParaRPr lang="ru-RU" dirty="0" smtClean="0"/>
          </a:p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НО!</a:t>
            </a:r>
            <a:r>
              <a:rPr lang="ru-RU" dirty="0" smtClean="0"/>
              <a:t> И это очень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ВАЖНО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/>
              <a:t>это уничтожит наш кластер. Поэтому нам нужна эта инструкция 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ТОЛЬКО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/>
              <a:t>если мы хотим инициализировать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другой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/>
              <a:t>кластер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756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Автоматизация запуска консоли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Для того что бы мы не набирали длинную и сложную команду, </a:t>
            </a:r>
            <a:r>
              <a:rPr lang="en-US" dirty="0" err="1" smtClean="0"/>
              <a:t>postgres</a:t>
            </a:r>
            <a:r>
              <a:rPr lang="ru-RU" dirty="0"/>
              <a:t> </a:t>
            </a:r>
            <a:r>
              <a:rPr lang="ru-RU" dirty="0" smtClean="0"/>
              <a:t>нужно рассказать где искать наш загрузочный файл: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33" y="3200380"/>
            <a:ext cx="8237934" cy="45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3033" y="3789040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 </a:t>
            </a:r>
            <a:r>
              <a:rPr lang="ru-RU" sz="3200" dirty="0" smtClean="0"/>
              <a:t>И </a:t>
            </a:r>
            <a:r>
              <a:rPr lang="ru-RU" sz="3200" dirty="0" err="1" smtClean="0"/>
              <a:t>ву-аля</a:t>
            </a:r>
            <a:r>
              <a:rPr lang="ru-RU" sz="3200" dirty="0" smtClean="0"/>
              <a:t>: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7" y="4509120"/>
            <a:ext cx="8007399" cy="233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517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588</Words>
  <Application>Microsoft Office PowerPoint</Application>
  <PresentationFormat>Экран (4:3)</PresentationFormat>
  <Paragraphs>63</Paragraphs>
  <Slides>32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3" baseType="lpstr">
      <vt:lpstr>Тема Office</vt:lpstr>
      <vt:lpstr>Postgresql установка из исходников</vt:lpstr>
      <vt:lpstr>Предварительная процедура установки СУБД</vt:lpstr>
      <vt:lpstr>Проверка необходимых инструментов для установки СУБД postgresql</vt:lpstr>
      <vt:lpstr>Проверка инструментов сборки установки СУБД postgresql</vt:lpstr>
      <vt:lpstr>Устанановка Tcl</vt:lpstr>
      <vt:lpstr>Установка perl</vt:lpstr>
      <vt:lpstr>Проверка успешной установки tcl  и необходимых компонентов</vt:lpstr>
      <vt:lpstr>Процесс установки СУБД из исходников с github.com</vt:lpstr>
      <vt:lpstr>Установка pkg-config и его компонентов</vt:lpstr>
      <vt:lpstr>Установка libicu-dev</vt:lpstr>
      <vt:lpstr>Установка libicu-dev</vt:lpstr>
      <vt:lpstr>Проверка успешной установки  libicu-dev </vt:lpstr>
      <vt:lpstr>Установка bison</vt:lpstr>
      <vt:lpstr>Установка flex</vt:lpstr>
      <vt:lpstr>Установка libreadline-dev</vt:lpstr>
      <vt:lpstr>Установка libssl-dev</vt:lpstr>
      <vt:lpstr>Установка библиотек расширенных возможностей СУБД</vt:lpstr>
      <vt:lpstr>Установленные библиотеки для расширения возможностей СУБД</vt:lpstr>
      <vt:lpstr>flex, bison</vt:lpstr>
      <vt:lpstr>Попытка конфигурирования СУБД</vt:lpstr>
      <vt:lpstr>Сборка СУБД</vt:lpstr>
      <vt:lpstr>Ввод пользователя postgres и регистрация его в ОС для работы с сервером СУБД</vt:lpstr>
      <vt:lpstr>Инициализация сервера СУБД</vt:lpstr>
      <vt:lpstr>Неудачная попытка старта сервера СУБД</vt:lpstr>
      <vt:lpstr>Успешный старт сервера СУБД и успешный вход вв консоль сервера СУБД под пользователем postgres</vt:lpstr>
      <vt:lpstr>Список баз данных на текущем сервере postgresql</vt:lpstr>
      <vt:lpstr>Выход из консоли СУБД</vt:lpstr>
      <vt:lpstr>Автоматизация запуска сервера СУБД</vt:lpstr>
      <vt:lpstr>Неудачный запуск сервера СУБД</vt:lpstr>
      <vt:lpstr>Подтверждение успешного запуска сервера СУБД</vt:lpstr>
      <vt:lpstr>Фиксирование автозапуска СУБД</vt:lpstr>
      <vt:lpstr>Автоматизация запуска консоли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двух сетевых соединений на одном сервере</dc:title>
  <dc:creator>нет2 каби</dc:creator>
  <cp:lastModifiedBy>нет2 каби</cp:lastModifiedBy>
  <cp:revision>26</cp:revision>
  <dcterms:created xsi:type="dcterms:W3CDTF">2024-02-23T18:22:01Z</dcterms:created>
  <dcterms:modified xsi:type="dcterms:W3CDTF">2026-10-17T18:54:13Z</dcterms:modified>
</cp:coreProperties>
</file>